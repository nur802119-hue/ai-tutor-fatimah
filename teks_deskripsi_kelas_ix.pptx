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2738"/>
        </a:solidFill>
        <a:effectLst/>
      </p:bgPr>
    </p:bg>
    <p:spTree>
      <p:nvGrpSpPr>
        <p:cNvPr id="1" name=""/>
        <p:cNvGrpSpPr/>
        <p:nvPr/>
      </p:nvGrpSpPr>
      <p:grpSpPr>
        <a:xfrm>
          <a:off x="0" y="0"/>
          <a:ext cx="0" cy="0"/>
          <a:chOff x="0" y="0"/>
          <a:chExt cx="0" cy="0"/>
        </a:xfrm>
      </p:grpSpPr>
      <p:sp>
        <p:nvSpPr>
          <p:cNvPr id="2" name="Oval 1"/>
          <p:cNvSpPr/>
          <p:nvPr/>
        </p:nvSpPr>
        <p:spPr>
          <a:xfrm>
            <a:off x="8229600" y="-685800"/>
            <a:ext cx="4754880" cy="4754880"/>
          </a:xfrm>
          <a:prstGeom prst="ellips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144000" y="182880"/>
            <a:ext cx="2926080" cy="2926080"/>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ave 3"/>
          <p:cNvSpPr/>
          <p:nvPr/>
        </p:nvSpPr>
        <p:spPr>
          <a:xfrm>
            <a:off x="6583680" y="4251960"/>
            <a:ext cx="6217920" cy="2834640"/>
          </a:xfrm>
          <a:prstGeom prst="wave">
            <a:avLst/>
          </a:prstGeom>
          <a:solidFill>
            <a:srgbClr val="C2D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Wave 4"/>
          <p:cNvSpPr/>
          <p:nvPr/>
        </p:nvSpPr>
        <p:spPr>
          <a:xfrm>
            <a:off x="7498079" y="4800600"/>
            <a:ext cx="5303520" cy="2286000"/>
          </a:xfrm>
          <a:prstGeom prst="wav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749808"/>
            <a:ext cx="5669280" cy="292608"/>
          </a:xfrm>
          <a:prstGeom prst="rect">
            <a:avLst/>
          </a:prstGeom>
          <a:noFill/>
        </p:spPr>
        <p:txBody>
          <a:bodyPr wrap="square" lIns="0" tIns="0" rIns="0" bIns="0" anchor="t">
            <a:spAutoFit/>
          </a:bodyPr>
          <a:lstStyle/>
          <a:p>
            <a:pPr algn="l">
              <a:spcAft>
                <a:spcPts val="500"/>
              </a:spcAft>
            </a:pPr>
            <a:r>
              <a:rPr sz="1200" b="1" i="0">
                <a:solidFill>
                  <a:srgbClr val="E7B55B"/>
                </a:solidFill>
                <a:latin typeface="Aptos"/>
              </a:rPr>
              <a:t>BAHASA INDONESIA  •  KELAS IX</a:t>
            </a:r>
          </a:p>
        </p:txBody>
      </p:sp>
      <p:sp>
        <p:nvSpPr>
          <p:cNvPr id="7" name="TextBox 6"/>
          <p:cNvSpPr txBox="1"/>
          <p:nvPr/>
        </p:nvSpPr>
        <p:spPr>
          <a:xfrm>
            <a:off x="749808" y="1417320"/>
            <a:ext cx="6492240" cy="1783080"/>
          </a:xfrm>
          <a:prstGeom prst="rect">
            <a:avLst/>
          </a:prstGeom>
          <a:noFill/>
        </p:spPr>
        <p:txBody>
          <a:bodyPr wrap="square" lIns="0" tIns="0" rIns="0" bIns="0" anchor="t">
            <a:spAutoFit/>
          </a:bodyPr>
          <a:lstStyle/>
          <a:p>
            <a:pPr algn="l">
              <a:spcAft>
                <a:spcPts val="500"/>
              </a:spcAft>
            </a:pPr>
            <a:r>
              <a:rPr sz="4000" b="1" i="0">
                <a:solidFill>
                  <a:srgbClr val="F9F7F0"/>
                </a:solidFill>
                <a:latin typeface="Aptos"/>
              </a:rPr>
              <a:t>TEKS</a:t>
            </a:r>
          </a:p>
          <a:p>
            <a:pPr algn="l">
              <a:spcAft>
                <a:spcPts val="500"/>
              </a:spcAft>
            </a:pPr>
            <a:r>
              <a:rPr sz="4000" b="1" i="0">
                <a:solidFill>
                  <a:srgbClr val="F9F7F0"/>
                </a:solidFill>
                <a:latin typeface="Aptos"/>
              </a:rPr>
              <a:t>DESKRIPSI</a:t>
            </a:r>
          </a:p>
        </p:txBody>
      </p:sp>
      <p:sp>
        <p:nvSpPr>
          <p:cNvPr id="8" name="TextBox 7"/>
          <p:cNvSpPr txBox="1"/>
          <p:nvPr/>
        </p:nvSpPr>
        <p:spPr>
          <a:xfrm>
            <a:off x="822960" y="3429000"/>
            <a:ext cx="6217920" cy="685800"/>
          </a:xfrm>
          <a:prstGeom prst="rect">
            <a:avLst/>
          </a:prstGeom>
          <a:noFill/>
        </p:spPr>
        <p:txBody>
          <a:bodyPr wrap="square" lIns="0" tIns="0" rIns="0" bIns="0" anchor="t">
            <a:spAutoFit/>
          </a:bodyPr>
          <a:lstStyle/>
          <a:p>
            <a:pPr algn="l">
              <a:spcAft>
                <a:spcPts val="500"/>
              </a:spcAft>
            </a:pPr>
            <a:r>
              <a:rPr sz="1800" b="0" i="0">
                <a:solidFill>
                  <a:srgbClr val="C2DACB"/>
                </a:solidFill>
                <a:latin typeface="Aptos"/>
              </a:rPr>
              <a:t>Menggambarkan objek secara jelas, nyata, dan terperinci</a:t>
            </a:r>
          </a:p>
        </p:txBody>
      </p:sp>
      <p:sp>
        <p:nvSpPr>
          <p:cNvPr id="9" name="Rectangle 8"/>
          <p:cNvSpPr/>
          <p:nvPr/>
        </p:nvSpPr>
        <p:spPr>
          <a:xfrm>
            <a:off x="822960" y="4251960"/>
            <a:ext cx="822960" cy="54864"/>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526280"/>
            <a:ext cx="6400800" cy="502920"/>
          </a:xfrm>
          <a:prstGeom prst="rect">
            <a:avLst/>
          </a:prstGeom>
          <a:noFill/>
        </p:spPr>
        <p:txBody>
          <a:bodyPr wrap="square" lIns="0" tIns="0" rIns="0" bIns="0" anchor="t">
            <a:spAutoFit/>
          </a:bodyPr>
          <a:lstStyle/>
          <a:p>
            <a:pPr algn="l">
              <a:spcAft>
                <a:spcPts val="500"/>
              </a:spcAft>
            </a:pPr>
            <a:r>
              <a:rPr sz="1300" b="0" i="0">
                <a:solidFill>
                  <a:srgbClr val="F9F7F0"/>
                </a:solidFill>
                <a:latin typeface="Aptos"/>
              </a:rPr>
              <a:t>Pengertian • Tujuan • Ciri-ciri • Jenis • Langkah Menulis • Contoh</a:t>
            </a:r>
          </a:p>
        </p:txBody>
      </p:sp>
      <p:sp>
        <p:nvSpPr>
          <p:cNvPr id="11" name="TextBox 10"/>
          <p:cNvSpPr txBox="1"/>
          <p:nvPr/>
        </p:nvSpPr>
        <p:spPr>
          <a:xfrm>
            <a:off x="822960" y="6080760"/>
            <a:ext cx="3657600" cy="201168"/>
          </a:xfrm>
          <a:prstGeom prst="rect">
            <a:avLst/>
          </a:prstGeom>
          <a:noFill/>
        </p:spPr>
        <p:txBody>
          <a:bodyPr wrap="square" lIns="0" tIns="0" rIns="0" bIns="0" anchor="t">
            <a:spAutoFit/>
          </a:bodyPr>
          <a:lstStyle/>
          <a:p>
            <a:pPr algn="l">
              <a:spcAft>
                <a:spcPts val="500"/>
              </a:spcAft>
            </a:pPr>
            <a:r>
              <a:rPr sz="900" b="1" i="0">
                <a:solidFill>
                  <a:srgbClr val="A9BEBC"/>
                </a:solidFill>
                <a:latin typeface="Aptos"/>
              </a:rPr>
              <a:t>MATERI PEMBELAJARAN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ORIENTASI</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Peta materi yang akan kita pelajari</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02</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2</a:t>
            </a:r>
          </a:p>
        </p:txBody>
      </p:sp>
      <p:sp>
        <p:nvSpPr>
          <p:cNvPr id="8" name="Rounded Rectangle 7"/>
          <p:cNvSpPr/>
          <p:nvPr/>
        </p:nvSpPr>
        <p:spPr>
          <a:xfrm>
            <a:off x="731520" y="1645920"/>
            <a:ext cx="3429000"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45920"/>
            <a:ext cx="68580" cy="1572768"/>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179222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01  |  Pengertian</a:t>
            </a:r>
          </a:p>
        </p:txBody>
      </p:sp>
      <p:sp>
        <p:nvSpPr>
          <p:cNvPr id="11" name="TextBox 10"/>
          <p:cNvSpPr txBox="1"/>
          <p:nvPr/>
        </p:nvSpPr>
        <p:spPr>
          <a:xfrm>
            <a:off x="932688" y="2240280"/>
            <a:ext cx="3044952" cy="859536"/>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Memahami apa itu teks deskripsi.</a:t>
            </a:r>
          </a:p>
        </p:txBody>
      </p:sp>
      <p:sp>
        <p:nvSpPr>
          <p:cNvPr id="12" name="Rounded Rectangle 11"/>
          <p:cNvSpPr/>
          <p:nvPr/>
        </p:nvSpPr>
        <p:spPr>
          <a:xfrm>
            <a:off x="4526280" y="1645920"/>
            <a:ext cx="3429000"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26280" y="1645920"/>
            <a:ext cx="68580" cy="1572768"/>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7448" y="179222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02  |  Tujuan</a:t>
            </a:r>
          </a:p>
        </p:txBody>
      </p:sp>
      <p:sp>
        <p:nvSpPr>
          <p:cNvPr id="15" name="TextBox 14"/>
          <p:cNvSpPr txBox="1"/>
          <p:nvPr/>
        </p:nvSpPr>
        <p:spPr>
          <a:xfrm>
            <a:off x="4727448" y="2240280"/>
            <a:ext cx="3044952" cy="859536"/>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Mengetahui kegunaan deskripsi.</a:t>
            </a:r>
          </a:p>
        </p:txBody>
      </p:sp>
      <p:sp>
        <p:nvSpPr>
          <p:cNvPr id="16" name="Rounded Rectangle 15"/>
          <p:cNvSpPr/>
          <p:nvPr/>
        </p:nvSpPr>
        <p:spPr>
          <a:xfrm>
            <a:off x="8321040" y="1645920"/>
            <a:ext cx="3429000"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21040" y="1645920"/>
            <a:ext cx="68580" cy="1572768"/>
          </a:xfrm>
          <a:prstGeom prst="rect">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22208" y="179222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03  |  Ciri-ciri</a:t>
            </a:r>
          </a:p>
        </p:txBody>
      </p:sp>
      <p:sp>
        <p:nvSpPr>
          <p:cNvPr id="19" name="TextBox 18"/>
          <p:cNvSpPr txBox="1"/>
          <p:nvPr/>
        </p:nvSpPr>
        <p:spPr>
          <a:xfrm>
            <a:off x="8522208" y="2240280"/>
            <a:ext cx="3044952" cy="859536"/>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Mengenali ciri isi dan bahasa.</a:t>
            </a:r>
          </a:p>
        </p:txBody>
      </p:sp>
      <p:sp>
        <p:nvSpPr>
          <p:cNvPr id="20" name="Rounded Rectangle 19"/>
          <p:cNvSpPr/>
          <p:nvPr/>
        </p:nvSpPr>
        <p:spPr>
          <a:xfrm>
            <a:off x="731520" y="3657600"/>
            <a:ext cx="3429000"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3657600"/>
            <a:ext cx="68580" cy="1572768"/>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 y="380390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04  |  Jenis</a:t>
            </a:r>
          </a:p>
        </p:txBody>
      </p:sp>
      <p:sp>
        <p:nvSpPr>
          <p:cNvPr id="23" name="TextBox 22"/>
          <p:cNvSpPr txBox="1"/>
          <p:nvPr/>
        </p:nvSpPr>
        <p:spPr>
          <a:xfrm>
            <a:off x="932688" y="4251960"/>
            <a:ext cx="3044952" cy="859536"/>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Membedakan tiga jenis deskripsi.</a:t>
            </a:r>
          </a:p>
        </p:txBody>
      </p:sp>
      <p:sp>
        <p:nvSpPr>
          <p:cNvPr id="24" name="Rounded Rectangle 23"/>
          <p:cNvSpPr/>
          <p:nvPr/>
        </p:nvSpPr>
        <p:spPr>
          <a:xfrm>
            <a:off x="4526280" y="3657600"/>
            <a:ext cx="3429000"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26280" y="3657600"/>
            <a:ext cx="68580" cy="1572768"/>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27448" y="380390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05  |  Langkah menulis</a:t>
            </a:r>
          </a:p>
        </p:txBody>
      </p:sp>
      <p:sp>
        <p:nvSpPr>
          <p:cNvPr id="27" name="TextBox 26"/>
          <p:cNvSpPr txBox="1"/>
          <p:nvPr/>
        </p:nvSpPr>
        <p:spPr>
          <a:xfrm>
            <a:off x="4727448" y="4251960"/>
            <a:ext cx="3044952" cy="859536"/>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Menyusun teks secara sistematis.</a:t>
            </a:r>
          </a:p>
        </p:txBody>
      </p:sp>
      <p:sp>
        <p:nvSpPr>
          <p:cNvPr id="28" name="Rounded Rectangle 27"/>
          <p:cNvSpPr/>
          <p:nvPr/>
        </p:nvSpPr>
        <p:spPr>
          <a:xfrm>
            <a:off x="8321040" y="3657600"/>
            <a:ext cx="3429000" cy="15727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321040" y="3657600"/>
            <a:ext cx="68580" cy="1572768"/>
          </a:xfrm>
          <a:prstGeom prst="rect">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22208" y="380390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06  |  Contoh dan evaluasi</a:t>
            </a:r>
          </a:p>
        </p:txBody>
      </p:sp>
      <p:sp>
        <p:nvSpPr>
          <p:cNvPr id="31" name="TextBox 30"/>
          <p:cNvSpPr txBox="1"/>
          <p:nvPr/>
        </p:nvSpPr>
        <p:spPr>
          <a:xfrm>
            <a:off x="8522208" y="4251960"/>
            <a:ext cx="3044952" cy="859536"/>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Menganalisis teks dan berlatih.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APERSEPSI</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Dua kalimat, dua pengalaman membaca</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03</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3</a:t>
            </a:r>
          </a:p>
        </p:txBody>
      </p:sp>
      <p:sp>
        <p:nvSpPr>
          <p:cNvPr id="8" name="Rounded Rectangle 7"/>
          <p:cNvSpPr/>
          <p:nvPr/>
        </p:nvSpPr>
        <p:spPr>
          <a:xfrm>
            <a:off x="777240" y="1691640"/>
            <a:ext cx="5074920" cy="3246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7240" y="1691640"/>
            <a:ext cx="68580" cy="3246120"/>
          </a:xfrm>
          <a:prstGeom prst="rect">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1837944"/>
            <a:ext cx="4709159" cy="365760"/>
          </a:xfrm>
          <a:prstGeom prst="rect">
            <a:avLst/>
          </a:prstGeom>
          <a:noFill/>
        </p:spPr>
        <p:txBody>
          <a:bodyPr wrap="square" lIns="0" tIns="0" rIns="0" bIns="0" anchor="t">
            <a:spAutoFit/>
          </a:bodyPr>
          <a:lstStyle/>
          <a:p>
            <a:pPr algn="l">
              <a:spcAft>
                <a:spcPts val="500"/>
              </a:spcAft>
            </a:pPr>
            <a:r>
              <a:rPr sz="1800" b="1" i="0">
                <a:solidFill>
                  <a:srgbClr val="152738"/>
                </a:solidFill>
                <a:latin typeface="Aptos"/>
              </a:rPr>
              <a:t>DESKRIPSI SINGKAT</a:t>
            </a:r>
          </a:p>
        </p:txBody>
      </p:sp>
      <p:sp>
        <p:nvSpPr>
          <p:cNvPr id="11" name="TextBox 10"/>
          <p:cNvSpPr txBox="1"/>
          <p:nvPr/>
        </p:nvSpPr>
        <p:spPr>
          <a:xfrm>
            <a:off x="978408" y="2286000"/>
            <a:ext cx="4690872" cy="2532887"/>
          </a:xfrm>
          <a:prstGeom prst="rect">
            <a:avLst/>
          </a:prstGeom>
          <a:noFill/>
        </p:spPr>
        <p:txBody>
          <a:bodyPr wrap="square" lIns="9144" tIns="9144" rIns="9144" bIns="9144" anchor="t">
            <a:spAutoFit/>
          </a:bodyPr>
          <a:lstStyle/>
          <a:p>
            <a:pPr algn="l">
              <a:spcAft>
                <a:spcPts val="500"/>
              </a:spcAft>
            </a:pPr>
            <a:r>
              <a:rPr sz="2200" b="0" i="0">
                <a:solidFill>
                  <a:srgbClr val="152738"/>
                </a:solidFill>
                <a:latin typeface="Aptos"/>
              </a:rPr>
              <a:t>Pantai itu indah dan ramai.</a:t>
            </a:r>
          </a:p>
        </p:txBody>
      </p:sp>
      <p:sp>
        <p:nvSpPr>
          <p:cNvPr id="12" name="Rounded Rectangle 11"/>
          <p:cNvSpPr/>
          <p:nvPr/>
        </p:nvSpPr>
        <p:spPr>
          <a:xfrm>
            <a:off x="6309360" y="1691640"/>
            <a:ext cx="5074920" cy="3246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1691640"/>
            <a:ext cx="68580" cy="324612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0528" y="1837944"/>
            <a:ext cx="4709159" cy="365760"/>
          </a:xfrm>
          <a:prstGeom prst="rect">
            <a:avLst/>
          </a:prstGeom>
          <a:noFill/>
        </p:spPr>
        <p:txBody>
          <a:bodyPr wrap="square" lIns="0" tIns="0" rIns="0" bIns="0" anchor="t">
            <a:spAutoFit/>
          </a:bodyPr>
          <a:lstStyle/>
          <a:p>
            <a:pPr algn="l">
              <a:spcAft>
                <a:spcPts val="500"/>
              </a:spcAft>
            </a:pPr>
            <a:r>
              <a:rPr sz="1800" b="1" i="0">
                <a:solidFill>
                  <a:srgbClr val="152738"/>
                </a:solidFill>
                <a:latin typeface="Aptos"/>
              </a:rPr>
              <a:t>DESKRIPSI TERPERINCI</a:t>
            </a:r>
          </a:p>
        </p:txBody>
      </p:sp>
      <p:sp>
        <p:nvSpPr>
          <p:cNvPr id="15" name="TextBox 14"/>
          <p:cNvSpPr txBox="1"/>
          <p:nvPr/>
        </p:nvSpPr>
        <p:spPr>
          <a:xfrm>
            <a:off x="6510528" y="2286000"/>
            <a:ext cx="4690872" cy="2532887"/>
          </a:xfrm>
          <a:prstGeom prst="rect">
            <a:avLst/>
          </a:prstGeom>
          <a:noFill/>
        </p:spPr>
        <p:txBody>
          <a:bodyPr wrap="square" lIns="9144" tIns="9144" rIns="9144" bIns="9144" anchor="t">
            <a:spAutoFit/>
          </a:bodyPr>
          <a:lstStyle/>
          <a:p>
            <a:pPr algn="l">
              <a:spcAft>
                <a:spcPts val="500"/>
              </a:spcAft>
            </a:pPr>
            <a:r>
              <a:rPr sz="1900" b="0" i="0">
                <a:solidFill>
                  <a:srgbClr val="152738"/>
                </a:solidFill>
                <a:latin typeface="Aptos"/>
              </a:rPr>
              <a:t>Pasir keemasan terasa hangat. Ombak berkejaran menuju bibir pantai, sementara angin asin menyapu wajah.</a:t>
            </a:r>
          </a:p>
        </p:txBody>
      </p:sp>
      <p:sp>
        <p:nvSpPr>
          <p:cNvPr id="16" name="Rounded Rectangle 15"/>
          <p:cNvSpPr/>
          <p:nvPr/>
        </p:nvSpPr>
        <p:spPr>
          <a:xfrm>
            <a:off x="1097280" y="5257800"/>
            <a:ext cx="9966960" cy="594360"/>
          </a:xfrm>
          <a:prstGeom prst="roundRect">
            <a:avLst/>
          </a:prstGeom>
          <a:solidFill>
            <a:srgbClr val="C2D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25880" y="5431536"/>
            <a:ext cx="9509760" cy="274320"/>
          </a:xfrm>
          <a:prstGeom prst="rect">
            <a:avLst/>
          </a:prstGeom>
          <a:noFill/>
        </p:spPr>
        <p:txBody>
          <a:bodyPr wrap="square" lIns="0" tIns="0" rIns="0" bIns="0" anchor="t">
            <a:spAutoFit/>
          </a:bodyPr>
          <a:lstStyle/>
          <a:p>
            <a:pPr algn="ctr">
              <a:spcAft>
                <a:spcPts val="500"/>
              </a:spcAft>
            </a:pPr>
            <a:r>
              <a:rPr sz="1500" b="1" i="0">
                <a:solidFill>
                  <a:srgbClr val="152738"/>
                </a:solidFill>
                <a:latin typeface="Aptos"/>
              </a:rPr>
              <a:t>Pertanyaan: kalimat mana yang membuatmu lebih mudah membayangkan objek? Mengapa?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A • PENGERTIAN</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Apa yang dimaksud dengan teks deskripsi?</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04</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4</a:t>
            </a:r>
          </a:p>
        </p:txBody>
      </p:sp>
      <p:sp>
        <p:nvSpPr>
          <p:cNvPr id="8" name="TextBox 7"/>
          <p:cNvSpPr txBox="1"/>
          <p:nvPr/>
        </p:nvSpPr>
        <p:spPr>
          <a:xfrm>
            <a:off x="822960" y="1691640"/>
            <a:ext cx="6583680" cy="1600200"/>
          </a:xfrm>
          <a:prstGeom prst="rect">
            <a:avLst/>
          </a:prstGeom>
          <a:noFill/>
        </p:spPr>
        <p:txBody>
          <a:bodyPr wrap="square" lIns="18288" tIns="18288" rIns="18288" bIns="18288" anchor="t">
            <a:spAutoFit/>
          </a:bodyPr>
          <a:lstStyle/>
          <a:p>
            <a:pPr algn="l">
              <a:spcAft>
                <a:spcPts val="500"/>
              </a:spcAft>
            </a:pPr>
            <a:r>
              <a:rPr sz="2100" b="1" i="0">
                <a:solidFill>
                  <a:srgbClr val="152738"/>
                </a:solidFill>
                <a:latin typeface="Aptos"/>
              </a:rPr>
              <a:t>Teks deskripsi merupakan jenis teks yang menggambarkan suatu objek secara terperinci sehingga pembaca memperoleh gambaran yang jelas mengenai objek yang dibicarakan.</a:t>
            </a:r>
          </a:p>
        </p:txBody>
      </p:sp>
      <p:sp>
        <p:nvSpPr>
          <p:cNvPr id="9" name="TextBox 8"/>
          <p:cNvSpPr txBox="1"/>
          <p:nvPr/>
        </p:nvSpPr>
        <p:spPr>
          <a:xfrm>
            <a:off x="841248" y="3566160"/>
            <a:ext cx="6400800" cy="868680"/>
          </a:xfrm>
          <a:prstGeom prst="rect">
            <a:avLst/>
          </a:prstGeom>
          <a:noFill/>
        </p:spPr>
        <p:txBody>
          <a:bodyPr wrap="square" lIns="18288" tIns="18288" rIns="18288" bIns="18288" anchor="t">
            <a:spAutoFit/>
          </a:bodyPr>
          <a:lstStyle/>
          <a:p>
            <a:pPr algn="l">
              <a:spcAft>
                <a:spcPts val="500"/>
              </a:spcAft>
            </a:pPr>
            <a:r>
              <a:rPr sz="1500" b="0" i="0">
                <a:solidFill>
                  <a:srgbClr val="5B6B74"/>
                </a:solidFill>
                <a:latin typeface="Aptos"/>
              </a:rPr>
              <a:t>Kata deskripsi berasal dari bahasa Latin describere, yang berarti menggambarkan atau memberikan penjelasan mengenai sesuatu.</a:t>
            </a:r>
          </a:p>
        </p:txBody>
      </p:sp>
      <p:sp>
        <p:nvSpPr>
          <p:cNvPr id="10" name="Rounded Rectangle 9"/>
          <p:cNvSpPr/>
          <p:nvPr/>
        </p:nvSpPr>
        <p:spPr>
          <a:xfrm>
            <a:off x="7818120" y="1691640"/>
            <a:ext cx="3520440" cy="3611880"/>
          </a:xfrm>
          <a:prstGeom prst="roundRect">
            <a:avLst/>
          </a:prstGeom>
          <a:solidFill>
            <a:srgbClr val="152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0" y="1993392"/>
            <a:ext cx="2880360" cy="365760"/>
          </a:xfrm>
          <a:prstGeom prst="rect">
            <a:avLst/>
          </a:prstGeom>
          <a:noFill/>
        </p:spPr>
        <p:txBody>
          <a:bodyPr wrap="square" lIns="0" tIns="0" rIns="0" bIns="0" anchor="t">
            <a:spAutoFit/>
          </a:bodyPr>
          <a:lstStyle/>
          <a:p>
            <a:pPr algn="ctr">
              <a:spcAft>
                <a:spcPts val="500"/>
              </a:spcAft>
            </a:pPr>
            <a:r>
              <a:rPr sz="1400" b="1" i="0">
                <a:solidFill>
                  <a:srgbClr val="E7B55B"/>
                </a:solidFill>
                <a:latin typeface="Aptos"/>
              </a:rPr>
              <a:t>INTI DESKRIPSI</a:t>
            </a:r>
          </a:p>
        </p:txBody>
      </p:sp>
      <p:sp>
        <p:nvSpPr>
          <p:cNvPr id="12" name="Oval 11"/>
          <p:cNvSpPr/>
          <p:nvPr/>
        </p:nvSpPr>
        <p:spPr>
          <a:xfrm>
            <a:off x="8183879" y="2798064"/>
            <a:ext cx="109728" cy="109728"/>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03336" y="2697480"/>
            <a:ext cx="2523744" cy="652272"/>
          </a:xfrm>
          <a:prstGeom prst="rect">
            <a:avLst/>
          </a:prstGeom>
          <a:noFill/>
        </p:spPr>
        <p:txBody>
          <a:bodyPr wrap="square" lIns="9144" tIns="9144" rIns="9144" bIns="9144" anchor="t">
            <a:spAutoFit/>
          </a:bodyPr>
          <a:lstStyle/>
          <a:p>
            <a:pPr algn="l">
              <a:spcAft>
                <a:spcPts val="500"/>
              </a:spcAft>
            </a:pPr>
            <a:r>
              <a:rPr sz="1400" b="0" i="0">
                <a:solidFill>
                  <a:srgbClr val="F9F7F0"/>
                </a:solidFill>
                <a:latin typeface="Aptos"/>
              </a:rPr>
              <a:t>Objek dijelaskan dengan jelas</a:t>
            </a:r>
          </a:p>
        </p:txBody>
      </p:sp>
      <p:sp>
        <p:nvSpPr>
          <p:cNvPr id="14" name="Oval 13"/>
          <p:cNvSpPr/>
          <p:nvPr/>
        </p:nvSpPr>
        <p:spPr>
          <a:xfrm>
            <a:off x="8183879" y="3468624"/>
            <a:ext cx="109728" cy="109728"/>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03336" y="3368040"/>
            <a:ext cx="2523744" cy="652272"/>
          </a:xfrm>
          <a:prstGeom prst="rect">
            <a:avLst/>
          </a:prstGeom>
          <a:noFill/>
        </p:spPr>
        <p:txBody>
          <a:bodyPr wrap="square" lIns="9144" tIns="9144" rIns="9144" bIns="9144" anchor="t">
            <a:spAutoFit/>
          </a:bodyPr>
          <a:lstStyle/>
          <a:p>
            <a:pPr algn="l">
              <a:spcAft>
                <a:spcPts val="500"/>
              </a:spcAft>
            </a:pPr>
            <a:r>
              <a:rPr sz="1400" b="0" i="0">
                <a:solidFill>
                  <a:srgbClr val="F9F7F0"/>
                </a:solidFill>
                <a:latin typeface="Aptos"/>
              </a:rPr>
              <a:t>Detail disusun secara terperinci</a:t>
            </a:r>
          </a:p>
        </p:txBody>
      </p:sp>
      <p:sp>
        <p:nvSpPr>
          <p:cNvPr id="16" name="Oval 15"/>
          <p:cNvSpPr/>
          <p:nvPr/>
        </p:nvSpPr>
        <p:spPr>
          <a:xfrm>
            <a:off x="8183879" y="4139184"/>
            <a:ext cx="109728" cy="109728"/>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03336" y="4038600"/>
            <a:ext cx="2523744" cy="652272"/>
          </a:xfrm>
          <a:prstGeom prst="rect">
            <a:avLst/>
          </a:prstGeom>
          <a:noFill/>
        </p:spPr>
        <p:txBody>
          <a:bodyPr wrap="square" lIns="9144" tIns="9144" rIns="9144" bIns="9144" anchor="t">
            <a:spAutoFit/>
          </a:bodyPr>
          <a:lstStyle/>
          <a:p>
            <a:pPr algn="l">
              <a:spcAft>
                <a:spcPts val="500"/>
              </a:spcAft>
            </a:pPr>
            <a:r>
              <a:rPr sz="1400" b="0" i="0">
                <a:solidFill>
                  <a:srgbClr val="F9F7F0"/>
                </a:solidFill>
                <a:latin typeface="Aptos"/>
              </a:rPr>
              <a:t>Pembaca dapat membayangkan objek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A • PENGERTIAN</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Apa saja yang dapat digambarkan?</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05</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5</a:t>
            </a:r>
          </a:p>
        </p:txBody>
      </p:sp>
      <p:sp>
        <p:nvSpPr>
          <p:cNvPr id="8" name="TextBox 7"/>
          <p:cNvSpPr txBox="1"/>
          <p:nvPr/>
        </p:nvSpPr>
        <p:spPr>
          <a:xfrm>
            <a:off x="822960" y="1572768"/>
            <a:ext cx="10607040" cy="777240"/>
          </a:xfrm>
          <a:prstGeom prst="rect">
            <a:avLst/>
          </a:prstGeom>
          <a:noFill/>
        </p:spPr>
        <p:txBody>
          <a:bodyPr wrap="square" lIns="18288" tIns="18288" rIns="18288" bIns="18288" anchor="t">
            <a:spAutoFit/>
          </a:bodyPr>
          <a:lstStyle/>
          <a:p>
            <a:pPr algn="l">
              <a:spcAft>
                <a:spcPts val="500"/>
              </a:spcAft>
            </a:pPr>
            <a:r>
              <a:rPr sz="1600" b="0" i="0">
                <a:solidFill>
                  <a:srgbClr val="152738"/>
                </a:solidFill>
                <a:latin typeface="Aptos"/>
              </a:rPr>
              <a:t>Teks deskripsi tidak hanya menjelaskan bentuk umum. Penulis juga dapat menjelaskan bagian, sifat, keadaan, ukuran, warna, suasana, dan karakteristik lain.</a:t>
            </a:r>
          </a:p>
        </p:txBody>
      </p:sp>
      <p:sp>
        <p:nvSpPr>
          <p:cNvPr id="9" name="Rounded Rectangle 8"/>
          <p:cNvSpPr/>
          <p:nvPr/>
        </p:nvSpPr>
        <p:spPr>
          <a:xfrm>
            <a:off x="685800" y="2743200"/>
            <a:ext cx="2011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353312" y="2999232"/>
            <a:ext cx="658368" cy="658368"/>
          </a:xfrm>
          <a:prstGeom prst="ellips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53312" y="3191256"/>
            <a:ext cx="658368" cy="182880"/>
          </a:xfrm>
          <a:prstGeom prst="rect">
            <a:avLst/>
          </a:prstGeom>
          <a:noFill/>
        </p:spPr>
        <p:txBody>
          <a:bodyPr wrap="square" lIns="0" tIns="0" rIns="0" bIns="0" anchor="t">
            <a:spAutoFit/>
          </a:bodyPr>
          <a:lstStyle/>
          <a:p>
            <a:pPr algn="ctr">
              <a:spcAft>
                <a:spcPts val="500"/>
              </a:spcAft>
            </a:pPr>
            <a:r>
              <a:rPr sz="1400" b="1" i="0">
                <a:solidFill>
                  <a:srgbClr val="FFFFFF"/>
                </a:solidFill>
                <a:latin typeface="Aptos"/>
              </a:rPr>
              <a:t>1</a:t>
            </a:r>
          </a:p>
        </p:txBody>
      </p:sp>
      <p:sp>
        <p:nvSpPr>
          <p:cNvPr id="12" name="TextBox 11"/>
          <p:cNvSpPr txBox="1"/>
          <p:nvPr/>
        </p:nvSpPr>
        <p:spPr>
          <a:xfrm>
            <a:off x="795528" y="3822191"/>
            <a:ext cx="1792224" cy="274320"/>
          </a:xfrm>
          <a:prstGeom prst="rect">
            <a:avLst/>
          </a:prstGeom>
          <a:noFill/>
        </p:spPr>
        <p:txBody>
          <a:bodyPr wrap="square" lIns="0" tIns="0" rIns="0" bIns="0" anchor="t">
            <a:spAutoFit/>
          </a:bodyPr>
          <a:lstStyle/>
          <a:p>
            <a:pPr algn="ctr">
              <a:spcAft>
                <a:spcPts val="500"/>
              </a:spcAft>
            </a:pPr>
            <a:r>
              <a:rPr sz="1100" b="1" i="0">
                <a:solidFill>
                  <a:srgbClr val="152738"/>
                </a:solidFill>
                <a:latin typeface="Aptos"/>
              </a:rPr>
              <a:t>MELIHAT</a:t>
            </a:r>
          </a:p>
        </p:txBody>
      </p:sp>
      <p:sp>
        <p:nvSpPr>
          <p:cNvPr id="13" name="TextBox 12"/>
          <p:cNvSpPr txBox="1"/>
          <p:nvPr/>
        </p:nvSpPr>
        <p:spPr>
          <a:xfrm>
            <a:off x="795528" y="4160520"/>
            <a:ext cx="1792224" cy="320040"/>
          </a:xfrm>
          <a:prstGeom prst="rect">
            <a:avLst/>
          </a:prstGeom>
          <a:noFill/>
        </p:spPr>
        <p:txBody>
          <a:bodyPr wrap="square" lIns="0" tIns="0" rIns="0" bIns="0" anchor="t">
            <a:spAutoFit/>
          </a:bodyPr>
          <a:lstStyle/>
          <a:p>
            <a:pPr algn="ctr">
              <a:spcAft>
                <a:spcPts val="500"/>
              </a:spcAft>
            </a:pPr>
            <a:r>
              <a:rPr sz="1000" b="0" i="0">
                <a:solidFill>
                  <a:srgbClr val="5B6B74"/>
                </a:solidFill>
                <a:latin typeface="Aptos"/>
              </a:rPr>
              <a:t>bentuk, warna, ukuran</a:t>
            </a:r>
          </a:p>
        </p:txBody>
      </p:sp>
      <p:sp>
        <p:nvSpPr>
          <p:cNvPr id="14" name="Rounded Rectangle 13"/>
          <p:cNvSpPr/>
          <p:nvPr/>
        </p:nvSpPr>
        <p:spPr>
          <a:xfrm>
            <a:off x="2990088" y="2743200"/>
            <a:ext cx="2011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57600" y="2999232"/>
            <a:ext cx="658368" cy="658368"/>
          </a:xfrm>
          <a:prstGeom prst="ellipse">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3191256"/>
            <a:ext cx="658368" cy="182880"/>
          </a:xfrm>
          <a:prstGeom prst="rect">
            <a:avLst/>
          </a:prstGeom>
          <a:noFill/>
        </p:spPr>
        <p:txBody>
          <a:bodyPr wrap="square" lIns="0" tIns="0" rIns="0" bIns="0" anchor="t">
            <a:spAutoFit/>
          </a:bodyPr>
          <a:lstStyle/>
          <a:p>
            <a:pPr algn="ctr">
              <a:spcAft>
                <a:spcPts val="500"/>
              </a:spcAft>
            </a:pPr>
            <a:r>
              <a:rPr sz="1400" b="1" i="0">
                <a:solidFill>
                  <a:srgbClr val="FFFFFF"/>
                </a:solidFill>
                <a:latin typeface="Aptos"/>
              </a:rPr>
              <a:t>2</a:t>
            </a:r>
          </a:p>
        </p:txBody>
      </p:sp>
      <p:sp>
        <p:nvSpPr>
          <p:cNvPr id="17" name="TextBox 16"/>
          <p:cNvSpPr txBox="1"/>
          <p:nvPr/>
        </p:nvSpPr>
        <p:spPr>
          <a:xfrm>
            <a:off x="3099816" y="3822191"/>
            <a:ext cx="1792224" cy="274320"/>
          </a:xfrm>
          <a:prstGeom prst="rect">
            <a:avLst/>
          </a:prstGeom>
          <a:noFill/>
        </p:spPr>
        <p:txBody>
          <a:bodyPr wrap="square" lIns="0" tIns="0" rIns="0" bIns="0" anchor="t">
            <a:spAutoFit/>
          </a:bodyPr>
          <a:lstStyle/>
          <a:p>
            <a:pPr algn="ctr">
              <a:spcAft>
                <a:spcPts val="500"/>
              </a:spcAft>
            </a:pPr>
            <a:r>
              <a:rPr sz="1100" b="1" i="0">
                <a:solidFill>
                  <a:srgbClr val="152738"/>
                </a:solidFill>
                <a:latin typeface="Aptos"/>
              </a:rPr>
              <a:t>MENDENGAR</a:t>
            </a:r>
          </a:p>
        </p:txBody>
      </p:sp>
      <p:sp>
        <p:nvSpPr>
          <p:cNvPr id="18" name="TextBox 17"/>
          <p:cNvSpPr txBox="1"/>
          <p:nvPr/>
        </p:nvSpPr>
        <p:spPr>
          <a:xfrm>
            <a:off x="3099816" y="4160520"/>
            <a:ext cx="1792224" cy="320040"/>
          </a:xfrm>
          <a:prstGeom prst="rect">
            <a:avLst/>
          </a:prstGeom>
          <a:noFill/>
        </p:spPr>
        <p:txBody>
          <a:bodyPr wrap="square" lIns="0" tIns="0" rIns="0" bIns="0" anchor="t">
            <a:spAutoFit/>
          </a:bodyPr>
          <a:lstStyle/>
          <a:p>
            <a:pPr algn="ctr">
              <a:spcAft>
                <a:spcPts val="500"/>
              </a:spcAft>
            </a:pPr>
            <a:r>
              <a:rPr sz="1000" b="0" i="0">
                <a:solidFill>
                  <a:srgbClr val="5B6B74"/>
                </a:solidFill>
                <a:latin typeface="Aptos"/>
              </a:rPr>
              <a:t>suara dan bunyi</a:t>
            </a:r>
          </a:p>
        </p:txBody>
      </p:sp>
      <p:sp>
        <p:nvSpPr>
          <p:cNvPr id="19" name="Rounded Rectangle 18"/>
          <p:cNvSpPr/>
          <p:nvPr/>
        </p:nvSpPr>
        <p:spPr>
          <a:xfrm>
            <a:off x="5294376" y="2743200"/>
            <a:ext cx="2011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961888" y="2999232"/>
            <a:ext cx="658368" cy="658368"/>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61888" y="3191256"/>
            <a:ext cx="658368" cy="182880"/>
          </a:xfrm>
          <a:prstGeom prst="rect">
            <a:avLst/>
          </a:prstGeom>
          <a:noFill/>
        </p:spPr>
        <p:txBody>
          <a:bodyPr wrap="square" lIns="0" tIns="0" rIns="0" bIns="0" anchor="t">
            <a:spAutoFit/>
          </a:bodyPr>
          <a:lstStyle/>
          <a:p>
            <a:pPr algn="ctr">
              <a:spcAft>
                <a:spcPts val="500"/>
              </a:spcAft>
            </a:pPr>
            <a:r>
              <a:rPr sz="1400" b="1" i="0">
                <a:solidFill>
                  <a:srgbClr val="FFFFFF"/>
                </a:solidFill>
                <a:latin typeface="Aptos"/>
              </a:rPr>
              <a:t>3</a:t>
            </a:r>
          </a:p>
        </p:txBody>
      </p:sp>
      <p:sp>
        <p:nvSpPr>
          <p:cNvPr id="22" name="TextBox 21"/>
          <p:cNvSpPr txBox="1"/>
          <p:nvPr/>
        </p:nvSpPr>
        <p:spPr>
          <a:xfrm>
            <a:off x="5404104" y="3822191"/>
            <a:ext cx="1792224" cy="274320"/>
          </a:xfrm>
          <a:prstGeom prst="rect">
            <a:avLst/>
          </a:prstGeom>
          <a:noFill/>
        </p:spPr>
        <p:txBody>
          <a:bodyPr wrap="square" lIns="0" tIns="0" rIns="0" bIns="0" anchor="t">
            <a:spAutoFit/>
          </a:bodyPr>
          <a:lstStyle/>
          <a:p>
            <a:pPr algn="ctr">
              <a:spcAft>
                <a:spcPts val="500"/>
              </a:spcAft>
            </a:pPr>
            <a:r>
              <a:rPr sz="1100" b="1" i="0">
                <a:solidFill>
                  <a:srgbClr val="152738"/>
                </a:solidFill>
                <a:latin typeface="Aptos"/>
              </a:rPr>
              <a:t>MENCIUM</a:t>
            </a:r>
          </a:p>
        </p:txBody>
      </p:sp>
      <p:sp>
        <p:nvSpPr>
          <p:cNvPr id="23" name="TextBox 22"/>
          <p:cNvSpPr txBox="1"/>
          <p:nvPr/>
        </p:nvSpPr>
        <p:spPr>
          <a:xfrm>
            <a:off x="5404104" y="4160520"/>
            <a:ext cx="1792224" cy="320040"/>
          </a:xfrm>
          <a:prstGeom prst="rect">
            <a:avLst/>
          </a:prstGeom>
          <a:noFill/>
        </p:spPr>
        <p:txBody>
          <a:bodyPr wrap="square" lIns="0" tIns="0" rIns="0" bIns="0" anchor="t">
            <a:spAutoFit/>
          </a:bodyPr>
          <a:lstStyle/>
          <a:p>
            <a:pPr algn="ctr">
              <a:spcAft>
                <a:spcPts val="500"/>
              </a:spcAft>
            </a:pPr>
            <a:r>
              <a:rPr sz="1000" b="0" i="0">
                <a:solidFill>
                  <a:srgbClr val="5B6B74"/>
                </a:solidFill>
                <a:latin typeface="Aptos"/>
              </a:rPr>
              <a:t>aroma atau bau</a:t>
            </a:r>
          </a:p>
        </p:txBody>
      </p:sp>
      <p:sp>
        <p:nvSpPr>
          <p:cNvPr id="24" name="Rounded Rectangle 23"/>
          <p:cNvSpPr/>
          <p:nvPr/>
        </p:nvSpPr>
        <p:spPr>
          <a:xfrm>
            <a:off x="7598664" y="2743200"/>
            <a:ext cx="2011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266176" y="2999232"/>
            <a:ext cx="658368" cy="658368"/>
          </a:xfrm>
          <a:prstGeom prst="ellipse">
            <a:avLst/>
          </a:prstGeom>
          <a:solidFill>
            <a:srgbClr val="5E8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66176" y="3191256"/>
            <a:ext cx="658368" cy="182880"/>
          </a:xfrm>
          <a:prstGeom prst="rect">
            <a:avLst/>
          </a:prstGeom>
          <a:noFill/>
        </p:spPr>
        <p:txBody>
          <a:bodyPr wrap="square" lIns="0" tIns="0" rIns="0" bIns="0" anchor="t">
            <a:spAutoFit/>
          </a:bodyPr>
          <a:lstStyle/>
          <a:p>
            <a:pPr algn="ctr">
              <a:spcAft>
                <a:spcPts val="500"/>
              </a:spcAft>
            </a:pPr>
            <a:r>
              <a:rPr sz="1400" b="1" i="0">
                <a:solidFill>
                  <a:srgbClr val="FFFFFF"/>
                </a:solidFill>
                <a:latin typeface="Aptos"/>
              </a:rPr>
              <a:t>4</a:t>
            </a:r>
          </a:p>
        </p:txBody>
      </p:sp>
      <p:sp>
        <p:nvSpPr>
          <p:cNvPr id="27" name="TextBox 26"/>
          <p:cNvSpPr txBox="1"/>
          <p:nvPr/>
        </p:nvSpPr>
        <p:spPr>
          <a:xfrm>
            <a:off x="7708392" y="3822191"/>
            <a:ext cx="1792224" cy="274320"/>
          </a:xfrm>
          <a:prstGeom prst="rect">
            <a:avLst/>
          </a:prstGeom>
          <a:noFill/>
        </p:spPr>
        <p:txBody>
          <a:bodyPr wrap="square" lIns="0" tIns="0" rIns="0" bIns="0" anchor="t">
            <a:spAutoFit/>
          </a:bodyPr>
          <a:lstStyle/>
          <a:p>
            <a:pPr algn="ctr">
              <a:spcAft>
                <a:spcPts val="500"/>
              </a:spcAft>
            </a:pPr>
            <a:r>
              <a:rPr sz="1100" b="1" i="0">
                <a:solidFill>
                  <a:srgbClr val="152738"/>
                </a:solidFill>
                <a:latin typeface="Aptos"/>
              </a:rPr>
              <a:t>MENYENTUH</a:t>
            </a:r>
          </a:p>
        </p:txBody>
      </p:sp>
      <p:sp>
        <p:nvSpPr>
          <p:cNvPr id="28" name="TextBox 27"/>
          <p:cNvSpPr txBox="1"/>
          <p:nvPr/>
        </p:nvSpPr>
        <p:spPr>
          <a:xfrm>
            <a:off x="7708392" y="4160520"/>
            <a:ext cx="1792224" cy="320040"/>
          </a:xfrm>
          <a:prstGeom prst="rect">
            <a:avLst/>
          </a:prstGeom>
          <a:noFill/>
        </p:spPr>
        <p:txBody>
          <a:bodyPr wrap="square" lIns="0" tIns="0" rIns="0" bIns="0" anchor="t">
            <a:spAutoFit/>
          </a:bodyPr>
          <a:lstStyle/>
          <a:p>
            <a:pPr algn="ctr">
              <a:spcAft>
                <a:spcPts val="500"/>
              </a:spcAft>
            </a:pPr>
            <a:r>
              <a:rPr sz="1000" b="0" i="0">
                <a:solidFill>
                  <a:srgbClr val="5B6B74"/>
                </a:solidFill>
                <a:latin typeface="Aptos"/>
              </a:rPr>
              <a:t>tekstur dan suhu</a:t>
            </a:r>
          </a:p>
        </p:txBody>
      </p:sp>
      <p:sp>
        <p:nvSpPr>
          <p:cNvPr id="29" name="Rounded Rectangle 28"/>
          <p:cNvSpPr/>
          <p:nvPr/>
        </p:nvSpPr>
        <p:spPr>
          <a:xfrm>
            <a:off x="9902952" y="2743200"/>
            <a:ext cx="2011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570464" y="2999232"/>
            <a:ext cx="658368" cy="658368"/>
          </a:xfrm>
          <a:prstGeom prst="ellipse">
            <a:avLst/>
          </a:prstGeom>
          <a:solidFill>
            <a:srgbClr val="7193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570464" y="3191256"/>
            <a:ext cx="658368" cy="182880"/>
          </a:xfrm>
          <a:prstGeom prst="rect">
            <a:avLst/>
          </a:prstGeom>
          <a:noFill/>
        </p:spPr>
        <p:txBody>
          <a:bodyPr wrap="square" lIns="0" tIns="0" rIns="0" bIns="0" anchor="t">
            <a:spAutoFit/>
          </a:bodyPr>
          <a:lstStyle/>
          <a:p>
            <a:pPr algn="ctr">
              <a:spcAft>
                <a:spcPts val="500"/>
              </a:spcAft>
            </a:pPr>
            <a:r>
              <a:rPr sz="1400" b="1" i="0">
                <a:solidFill>
                  <a:srgbClr val="FFFFFF"/>
                </a:solidFill>
                <a:latin typeface="Aptos"/>
              </a:rPr>
              <a:t>5</a:t>
            </a:r>
          </a:p>
        </p:txBody>
      </p:sp>
      <p:sp>
        <p:nvSpPr>
          <p:cNvPr id="32" name="TextBox 31"/>
          <p:cNvSpPr txBox="1"/>
          <p:nvPr/>
        </p:nvSpPr>
        <p:spPr>
          <a:xfrm>
            <a:off x="10012680" y="3822191"/>
            <a:ext cx="1792224" cy="274320"/>
          </a:xfrm>
          <a:prstGeom prst="rect">
            <a:avLst/>
          </a:prstGeom>
          <a:noFill/>
        </p:spPr>
        <p:txBody>
          <a:bodyPr wrap="square" lIns="0" tIns="0" rIns="0" bIns="0" anchor="t">
            <a:spAutoFit/>
          </a:bodyPr>
          <a:lstStyle/>
          <a:p>
            <a:pPr algn="ctr">
              <a:spcAft>
                <a:spcPts val="500"/>
              </a:spcAft>
            </a:pPr>
            <a:r>
              <a:rPr sz="1100" b="1" i="0">
                <a:solidFill>
                  <a:srgbClr val="152738"/>
                </a:solidFill>
                <a:latin typeface="Aptos"/>
              </a:rPr>
              <a:t>MERASAKAN</a:t>
            </a:r>
          </a:p>
        </p:txBody>
      </p:sp>
      <p:sp>
        <p:nvSpPr>
          <p:cNvPr id="33" name="TextBox 32"/>
          <p:cNvSpPr txBox="1"/>
          <p:nvPr/>
        </p:nvSpPr>
        <p:spPr>
          <a:xfrm>
            <a:off x="10012680" y="4160520"/>
            <a:ext cx="1792224" cy="320040"/>
          </a:xfrm>
          <a:prstGeom prst="rect">
            <a:avLst/>
          </a:prstGeom>
          <a:noFill/>
        </p:spPr>
        <p:txBody>
          <a:bodyPr wrap="square" lIns="0" tIns="0" rIns="0" bIns="0" anchor="t">
            <a:spAutoFit/>
          </a:bodyPr>
          <a:lstStyle/>
          <a:p>
            <a:pPr algn="ctr">
              <a:spcAft>
                <a:spcPts val="500"/>
              </a:spcAft>
            </a:pPr>
            <a:r>
              <a:rPr sz="1000" b="0" i="0">
                <a:solidFill>
                  <a:srgbClr val="5B6B74"/>
                </a:solidFill>
                <a:latin typeface="Aptos"/>
              </a:rPr>
              <a:t>rasa atau suasana</a:t>
            </a:r>
          </a:p>
        </p:txBody>
      </p:sp>
      <p:sp>
        <p:nvSpPr>
          <p:cNvPr id="34" name="TextBox 33"/>
          <p:cNvSpPr txBox="1"/>
          <p:nvPr/>
        </p:nvSpPr>
        <p:spPr>
          <a:xfrm>
            <a:off x="914400" y="5257800"/>
            <a:ext cx="10332720" cy="502920"/>
          </a:xfrm>
          <a:prstGeom prst="rect">
            <a:avLst/>
          </a:prstGeom>
          <a:noFill/>
        </p:spPr>
        <p:txBody>
          <a:bodyPr wrap="square" lIns="0" tIns="0" rIns="0" bIns="0" anchor="t">
            <a:spAutoFit/>
          </a:bodyPr>
          <a:lstStyle/>
          <a:p>
            <a:pPr algn="ctr">
              <a:spcAft>
                <a:spcPts val="500"/>
              </a:spcAft>
            </a:pPr>
            <a:r>
              <a:rPr sz="1500" b="1" i="0">
                <a:solidFill>
                  <a:srgbClr val="287971"/>
                </a:solidFill>
                <a:latin typeface="Aptos"/>
              </a:rPr>
              <a:t>Pemilihan kata dan penyusunan kalimat menentukan seberapa nyata gambaran yang diterima pembaca.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A • PENGERTIAN</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Objek deskripsi dan gambaran konkret</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06</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6</a:t>
            </a:r>
          </a:p>
        </p:txBody>
      </p:sp>
      <p:sp>
        <p:nvSpPr>
          <p:cNvPr id="8" name="Rounded Rectangle 7"/>
          <p:cNvSpPr/>
          <p:nvPr/>
        </p:nvSpPr>
        <p:spPr>
          <a:xfrm>
            <a:off x="731520" y="1691640"/>
            <a:ext cx="34290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691640"/>
            <a:ext cx="68580" cy="109728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183794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Manusia</a:t>
            </a:r>
          </a:p>
        </p:txBody>
      </p:sp>
      <p:sp>
        <p:nvSpPr>
          <p:cNvPr id="11" name="TextBox 10"/>
          <p:cNvSpPr txBox="1"/>
          <p:nvPr/>
        </p:nvSpPr>
        <p:spPr>
          <a:xfrm>
            <a:off x="932688" y="2286000"/>
            <a:ext cx="3044952" cy="384047"/>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ciri fisik atau karakter</a:t>
            </a:r>
          </a:p>
        </p:txBody>
      </p:sp>
      <p:sp>
        <p:nvSpPr>
          <p:cNvPr id="12" name="Rounded Rectangle 11"/>
          <p:cNvSpPr/>
          <p:nvPr/>
        </p:nvSpPr>
        <p:spPr>
          <a:xfrm>
            <a:off x="4526280" y="1691640"/>
            <a:ext cx="34290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26280" y="1691640"/>
            <a:ext cx="68580" cy="1097280"/>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7448" y="183794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Hewan</a:t>
            </a:r>
          </a:p>
        </p:txBody>
      </p:sp>
      <p:sp>
        <p:nvSpPr>
          <p:cNvPr id="15" name="TextBox 14"/>
          <p:cNvSpPr txBox="1"/>
          <p:nvPr/>
        </p:nvSpPr>
        <p:spPr>
          <a:xfrm>
            <a:off x="4727448" y="2286000"/>
            <a:ext cx="3044952" cy="384047"/>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warna, bentuk, perilaku</a:t>
            </a:r>
          </a:p>
        </p:txBody>
      </p:sp>
      <p:sp>
        <p:nvSpPr>
          <p:cNvPr id="16" name="Rounded Rectangle 15"/>
          <p:cNvSpPr/>
          <p:nvPr/>
        </p:nvSpPr>
        <p:spPr>
          <a:xfrm>
            <a:off x="8321040" y="1691640"/>
            <a:ext cx="34290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21040" y="1691640"/>
            <a:ext cx="68580" cy="1097280"/>
          </a:xfrm>
          <a:prstGeom prst="rect">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22208" y="183794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Tumbuhan</a:t>
            </a:r>
          </a:p>
        </p:txBody>
      </p:sp>
      <p:sp>
        <p:nvSpPr>
          <p:cNvPr id="19" name="TextBox 18"/>
          <p:cNvSpPr txBox="1"/>
          <p:nvPr/>
        </p:nvSpPr>
        <p:spPr>
          <a:xfrm>
            <a:off x="8522208" y="2286000"/>
            <a:ext cx="3044952" cy="384047"/>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daun, batang, bunga</a:t>
            </a:r>
          </a:p>
        </p:txBody>
      </p:sp>
      <p:sp>
        <p:nvSpPr>
          <p:cNvPr id="20" name="Rounded Rectangle 19"/>
          <p:cNvSpPr/>
          <p:nvPr/>
        </p:nvSpPr>
        <p:spPr>
          <a:xfrm>
            <a:off x="731520" y="3108960"/>
            <a:ext cx="34290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3108960"/>
            <a:ext cx="68580" cy="109728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2688" y="325526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Benda</a:t>
            </a:r>
          </a:p>
        </p:txBody>
      </p:sp>
      <p:sp>
        <p:nvSpPr>
          <p:cNvPr id="23" name="TextBox 22"/>
          <p:cNvSpPr txBox="1"/>
          <p:nvPr/>
        </p:nvSpPr>
        <p:spPr>
          <a:xfrm>
            <a:off x="932688" y="3703320"/>
            <a:ext cx="3044952" cy="384047"/>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bahan, ukuran, bentuk</a:t>
            </a:r>
          </a:p>
        </p:txBody>
      </p:sp>
      <p:sp>
        <p:nvSpPr>
          <p:cNvPr id="24" name="Rounded Rectangle 23"/>
          <p:cNvSpPr/>
          <p:nvPr/>
        </p:nvSpPr>
        <p:spPr>
          <a:xfrm>
            <a:off x="4526280" y="3108960"/>
            <a:ext cx="34290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26280" y="3108960"/>
            <a:ext cx="68580" cy="1097280"/>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27448" y="325526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Tempat</a:t>
            </a:r>
          </a:p>
        </p:txBody>
      </p:sp>
      <p:sp>
        <p:nvSpPr>
          <p:cNvPr id="27" name="TextBox 26"/>
          <p:cNvSpPr txBox="1"/>
          <p:nvPr/>
        </p:nvSpPr>
        <p:spPr>
          <a:xfrm>
            <a:off x="4727448" y="3703320"/>
            <a:ext cx="3044952" cy="384047"/>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letak, keadaan, suasana</a:t>
            </a:r>
          </a:p>
        </p:txBody>
      </p:sp>
      <p:sp>
        <p:nvSpPr>
          <p:cNvPr id="28" name="Rounded Rectangle 27"/>
          <p:cNvSpPr/>
          <p:nvPr/>
        </p:nvSpPr>
        <p:spPr>
          <a:xfrm>
            <a:off x="8321040" y="3108960"/>
            <a:ext cx="34290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321040" y="3108960"/>
            <a:ext cx="68580" cy="1097280"/>
          </a:xfrm>
          <a:prstGeom prst="rect">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22208" y="3255264"/>
            <a:ext cx="306324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Peristiwa</a:t>
            </a:r>
          </a:p>
        </p:txBody>
      </p:sp>
      <p:sp>
        <p:nvSpPr>
          <p:cNvPr id="31" name="TextBox 30"/>
          <p:cNvSpPr txBox="1"/>
          <p:nvPr/>
        </p:nvSpPr>
        <p:spPr>
          <a:xfrm>
            <a:off x="8522208" y="3703320"/>
            <a:ext cx="3044952" cy="384047"/>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lokasi, waktu, situasi</a:t>
            </a:r>
          </a:p>
        </p:txBody>
      </p:sp>
      <p:sp>
        <p:nvSpPr>
          <p:cNvPr id="32" name="Rounded Rectangle 31"/>
          <p:cNvSpPr/>
          <p:nvPr/>
        </p:nvSpPr>
        <p:spPr>
          <a:xfrm>
            <a:off x="914400" y="4800600"/>
            <a:ext cx="10241280" cy="822960"/>
          </a:xfrm>
          <a:prstGeom prst="round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43000" y="5029200"/>
            <a:ext cx="9784080" cy="347472"/>
          </a:xfrm>
          <a:prstGeom prst="rect">
            <a:avLst/>
          </a:prstGeom>
          <a:noFill/>
        </p:spPr>
        <p:txBody>
          <a:bodyPr wrap="square" lIns="0" tIns="0" rIns="0" bIns="0" anchor="t">
            <a:spAutoFit/>
          </a:bodyPr>
          <a:lstStyle/>
          <a:p>
            <a:pPr algn="ctr">
              <a:spcAft>
                <a:spcPts val="500"/>
              </a:spcAft>
            </a:pPr>
            <a:r>
              <a:rPr sz="1400" b="1" i="0">
                <a:solidFill>
                  <a:srgbClr val="152738"/>
                </a:solidFill>
                <a:latin typeface="Aptos"/>
              </a:rPr>
              <a:t>Dalam KBBI, deskripsi berkaitan dengan pemaparan atau penggambaran menggunakan kata-kata yang jelas dan terperinci.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B • TUJUAN</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Tujuan utama teks deskripsi</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07</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7</a:t>
            </a:r>
          </a:p>
        </p:txBody>
      </p:sp>
      <p:sp>
        <p:nvSpPr>
          <p:cNvPr id="8" name="TextBox 7"/>
          <p:cNvSpPr txBox="1"/>
          <p:nvPr/>
        </p:nvSpPr>
        <p:spPr>
          <a:xfrm>
            <a:off x="868680" y="1691640"/>
            <a:ext cx="10332720" cy="1143000"/>
          </a:xfrm>
          <a:prstGeom prst="rect">
            <a:avLst/>
          </a:prstGeom>
          <a:noFill/>
        </p:spPr>
        <p:txBody>
          <a:bodyPr wrap="square" lIns="18288" tIns="18288" rIns="18288" bIns="18288" anchor="t">
            <a:spAutoFit/>
          </a:bodyPr>
          <a:lstStyle/>
          <a:p>
            <a:pPr algn="l">
              <a:spcAft>
                <a:spcPts val="500"/>
              </a:spcAft>
            </a:pPr>
            <a:r>
              <a:rPr sz="2000" b="1" i="0">
                <a:solidFill>
                  <a:srgbClr val="152738"/>
                </a:solidFill>
                <a:latin typeface="Aptos"/>
              </a:rPr>
              <a:t>Tujuan utama teks deskripsi adalah memberikan gambaran yang jelas dan terperinci mengenai suatu objek agar pembaca dapat membayangkan atau seolah-olah melihat dan merasakan objek tersebut.</a:t>
            </a:r>
          </a:p>
        </p:txBody>
      </p:sp>
      <p:sp>
        <p:nvSpPr>
          <p:cNvPr id="9" name="Rounded Rectangle 8"/>
          <p:cNvSpPr/>
          <p:nvPr/>
        </p:nvSpPr>
        <p:spPr>
          <a:xfrm>
            <a:off x="960120" y="3337560"/>
            <a:ext cx="10195560" cy="1417320"/>
          </a:xfrm>
          <a:prstGeom prst="roundRect">
            <a:avLst/>
          </a:prstGeom>
          <a:solidFill>
            <a:srgbClr val="1527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3611880"/>
            <a:ext cx="9509760" cy="320040"/>
          </a:xfrm>
          <a:prstGeom prst="rect">
            <a:avLst/>
          </a:prstGeom>
          <a:noFill/>
        </p:spPr>
        <p:txBody>
          <a:bodyPr wrap="square" lIns="0" tIns="0" rIns="0" bIns="0" anchor="t">
            <a:spAutoFit/>
          </a:bodyPr>
          <a:lstStyle/>
          <a:p>
            <a:pPr algn="ctr">
              <a:spcAft>
                <a:spcPts val="500"/>
              </a:spcAft>
            </a:pPr>
            <a:r>
              <a:rPr sz="1400" b="1" i="0">
                <a:solidFill>
                  <a:srgbClr val="E7B55B"/>
                </a:solidFill>
                <a:latin typeface="Aptos"/>
              </a:rPr>
              <a:t>DESKRIPSI MELAMPAUI INFORMASI UMUM</a:t>
            </a:r>
          </a:p>
        </p:txBody>
      </p:sp>
      <p:sp>
        <p:nvSpPr>
          <p:cNvPr id="11" name="TextBox 10"/>
          <p:cNvSpPr txBox="1"/>
          <p:nvPr/>
        </p:nvSpPr>
        <p:spPr>
          <a:xfrm>
            <a:off x="1280160" y="4096512"/>
            <a:ext cx="9509760" cy="347472"/>
          </a:xfrm>
          <a:prstGeom prst="rect">
            <a:avLst/>
          </a:prstGeom>
          <a:noFill/>
        </p:spPr>
        <p:txBody>
          <a:bodyPr wrap="square" lIns="0" tIns="0" rIns="0" bIns="0" anchor="t">
            <a:spAutoFit/>
          </a:bodyPr>
          <a:lstStyle/>
          <a:p>
            <a:pPr algn="ctr">
              <a:spcAft>
                <a:spcPts val="500"/>
              </a:spcAft>
            </a:pPr>
            <a:r>
              <a:rPr sz="1600" b="1" i="0">
                <a:solidFill>
                  <a:srgbClr val="F9F7F0"/>
                </a:solidFill>
                <a:latin typeface="Aptos"/>
              </a:rPr>
              <a:t>Bentuk • keadaan • suasana • sifat • warna • ukuran • karakteristik</a:t>
            </a:r>
          </a:p>
        </p:txBody>
      </p:sp>
      <p:sp>
        <p:nvSpPr>
          <p:cNvPr id="12" name="TextBox 11"/>
          <p:cNvSpPr txBox="1"/>
          <p:nvPr/>
        </p:nvSpPr>
        <p:spPr>
          <a:xfrm>
            <a:off x="914400" y="5257800"/>
            <a:ext cx="10241280" cy="411480"/>
          </a:xfrm>
          <a:prstGeom prst="rect">
            <a:avLst/>
          </a:prstGeom>
          <a:noFill/>
        </p:spPr>
        <p:txBody>
          <a:bodyPr wrap="square" lIns="0" tIns="0" rIns="0" bIns="0" anchor="t">
            <a:spAutoFit/>
          </a:bodyPr>
          <a:lstStyle/>
          <a:p>
            <a:pPr algn="ctr">
              <a:spcAft>
                <a:spcPts val="500"/>
              </a:spcAft>
            </a:pPr>
            <a:r>
              <a:rPr sz="1500" b="1" i="0">
                <a:solidFill>
                  <a:srgbClr val="287971"/>
                </a:solidFill>
                <a:latin typeface="Aptos"/>
              </a:rPr>
              <a:t>Kuncinya adalah menghadirkan gambaran yang konkret melalui detail yang relevan.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B • TUJUAN</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dirty="0" err="1">
                <a:solidFill>
                  <a:srgbClr val="152738"/>
                </a:solidFill>
                <a:latin typeface="Aptos"/>
              </a:rPr>
              <a:t>Empat</a:t>
            </a:r>
            <a:r>
              <a:rPr sz="2700" b="1" i="0" dirty="0">
                <a:solidFill>
                  <a:srgbClr val="152738"/>
                </a:solidFill>
                <a:latin typeface="Aptos"/>
              </a:rPr>
              <a:t> </a:t>
            </a:r>
            <a:r>
              <a:rPr sz="2700" b="1" i="0" dirty="0" err="1">
                <a:solidFill>
                  <a:srgbClr val="152738"/>
                </a:solidFill>
                <a:latin typeface="Aptos"/>
              </a:rPr>
              <a:t>kegunaan</a:t>
            </a:r>
            <a:r>
              <a:rPr sz="2700" b="1" i="0" dirty="0">
                <a:solidFill>
                  <a:srgbClr val="152738"/>
                </a:solidFill>
                <a:latin typeface="Aptos"/>
              </a:rPr>
              <a:t> </a:t>
            </a:r>
            <a:r>
              <a:rPr sz="2700" b="1" i="0" dirty="0" err="1">
                <a:solidFill>
                  <a:srgbClr val="152738"/>
                </a:solidFill>
                <a:latin typeface="Aptos"/>
              </a:rPr>
              <a:t>deskripsi</a:t>
            </a:r>
            <a:r>
              <a:rPr sz="2700" b="1" i="0" dirty="0">
                <a:solidFill>
                  <a:srgbClr val="152738"/>
                </a:solidFill>
                <a:latin typeface="Aptos"/>
              </a:rPr>
              <a:t> (1/2)</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08</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8</a:t>
            </a:r>
          </a:p>
        </p:txBody>
      </p:sp>
      <p:sp>
        <p:nvSpPr>
          <p:cNvPr id="8" name="Rounded Rectangle 7"/>
          <p:cNvSpPr/>
          <p:nvPr/>
        </p:nvSpPr>
        <p:spPr>
          <a:xfrm>
            <a:off x="822960" y="1737360"/>
            <a:ext cx="5074920" cy="3429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737360"/>
            <a:ext cx="68580" cy="342900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883664"/>
            <a:ext cx="4709159" cy="365760"/>
          </a:xfrm>
          <a:prstGeom prst="rect">
            <a:avLst/>
          </a:prstGeom>
          <a:noFill/>
        </p:spPr>
        <p:txBody>
          <a:bodyPr wrap="square" lIns="0" tIns="0" rIns="0" bIns="0" anchor="t">
            <a:spAutoFit/>
          </a:bodyPr>
          <a:lstStyle/>
          <a:p>
            <a:pPr algn="l">
              <a:spcAft>
                <a:spcPts val="500"/>
              </a:spcAft>
            </a:pPr>
            <a:r>
              <a:rPr sz="1700" b="1" i="0">
                <a:solidFill>
                  <a:srgbClr val="152738"/>
                </a:solidFill>
                <a:latin typeface="Aptos"/>
              </a:rPr>
              <a:t>01 • PEMBERIAN ARAHAN</a:t>
            </a:r>
          </a:p>
        </p:txBody>
      </p:sp>
      <p:sp>
        <p:nvSpPr>
          <p:cNvPr id="11" name="TextBox 10"/>
          <p:cNvSpPr txBox="1"/>
          <p:nvPr/>
        </p:nvSpPr>
        <p:spPr>
          <a:xfrm>
            <a:off x="1024128" y="2331720"/>
            <a:ext cx="4690872" cy="1439368"/>
          </a:xfrm>
          <a:prstGeom prst="rect">
            <a:avLst/>
          </a:prstGeom>
          <a:noFill/>
        </p:spPr>
        <p:txBody>
          <a:bodyPr wrap="square" lIns="9144" tIns="9144" rIns="9144" bIns="9144" anchor="t">
            <a:spAutoFit/>
          </a:bodyPr>
          <a:lstStyle/>
          <a:p>
            <a:pPr algn="l">
              <a:spcAft>
                <a:spcPts val="500"/>
              </a:spcAft>
            </a:pPr>
            <a:r>
              <a:rPr sz="1400" b="0" i="0" dirty="0">
                <a:solidFill>
                  <a:srgbClr val="152738"/>
                </a:solidFill>
                <a:latin typeface="Aptos"/>
              </a:rPr>
              <a:t>Teks </a:t>
            </a:r>
            <a:r>
              <a:rPr sz="1400" b="0" i="0" dirty="0" err="1">
                <a:solidFill>
                  <a:srgbClr val="152738"/>
                </a:solidFill>
                <a:latin typeface="Aptos"/>
              </a:rPr>
              <a:t>deskripsi</a:t>
            </a:r>
            <a:r>
              <a:rPr sz="1400" b="0" i="0" dirty="0">
                <a:solidFill>
                  <a:srgbClr val="152738"/>
                </a:solidFill>
                <a:latin typeface="Aptos"/>
              </a:rPr>
              <a:t> </a:t>
            </a:r>
            <a:r>
              <a:rPr sz="1400" b="0" i="0" dirty="0" err="1">
                <a:solidFill>
                  <a:srgbClr val="152738"/>
                </a:solidFill>
                <a:latin typeface="Aptos"/>
              </a:rPr>
              <a:t>dapat</a:t>
            </a:r>
            <a:r>
              <a:rPr sz="1400" b="0" i="0" dirty="0">
                <a:solidFill>
                  <a:srgbClr val="152738"/>
                </a:solidFill>
                <a:latin typeface="Aptos"/>
              </a:rPr>
              <a:t> </a:t>
            </a:r>
            <a:r>
              <a:rPr sz="1400" b="0" i="0" dirty="0" err="1">
                <a:solidFill>
                  <a:srgbClr val="152738"/>
                </a:solidFill>
                <a:latin typeface="Aptos"/>
              </a:rPr>
              <a:t>membantu</a:t>
            </a:r>
            <a:r>
              <a:rPr sz="1400" b="0" i="0" dirty="0">
                <a:solidFill>
                  <a:srgbClr val="152738"/>
                </a:solidFill>
                <a:latin typeface="Aptos"/>
              </a:rPr>
              <a:t> </a:t>
            </a:r>
            <a:r>
              <a:rPr sz="1400" b="0" i="0" dirty="0" err="1">
                <a:solidFill>
                  <a:srgbClr val="152738"/>
                </a:solidFill>
                <a:latin typeface="Aptos"/>
              </a:rPr>
              <a:t>memberikan</a:t>
            </a:r>
            <a:r>
              <a:rPr sz="1400" b="0" i="0" dirty="0">
                <a:solidFill>
                  <a:srgbClr val="152738"/>
                </a:solidFill>
                <a:latin typeface="Aptos"/>
              </a:rPr>
              <a:t> </a:t>
            </a:r>
            <a:r>
              <a:rPr sz="1400" b="0" i="0" dirty="0" err="1">
                <a:solidFill>
                  <a:srgbClr val="152738"/>
                </a:solidFill>
                <a:latin typeface="Aptos"/>
              </a:rPr>
              <a:t>petunjuk</a:t>
            </a:r>
            <a:r>
              <a:rPr sz="1400" b="0" i="0" dirty="0">
                <a:solidFill>
                  <a:srgbClr val="152738"/>
                </a:solidFill>
                <a:latin typeface="Aptos"/>
              </a:rPr>
              <a:t> </a:t>
            </a:r>
            <a:r>
              <a:rPr sz="1400" b="0" i="0" dirty="0" err="1">
                <a:solidFill>
                  <a:srgbClr val="152738"/>
                </a:solidFill>
                <a:latin typeface="Aptos"/>
              </a:rPr>
              <a:t>atau</a:t>
            </a:r>
            <a:r>
              <a:rPr sz="1400" b="0" i="0" dirty="0">
                <a:solidFill>
                  <a:srgbClr val="152738"/>
                </a:solidFill>
                <a:latin typeface="Aptos"/>
              </a:rPr>
              <a:t> </a:t>
            </a:r>
            <a:r>
              <a:rPr sz="1400" b="0" i="0" dirty="0" err="1">
                <a:solidFill>
                  <a:srgbClr val="152738"/>
                </a:solidFill>
                <a:latin typeface="Aptos"/>
              </a:rPr>
              <a:t>arahan</a:t>
            </a:r>
            <a:r>
              <a:rPr sz="1400" b="0" i="0" dirty="0">
                <a:solidFill>
                  <a:srgbClr val="152738"/>
                </a:solidFill>
                <a:latin typeface="Aptos"/>
              </a:rPr>
              <a:t> </a:t>
            </a:r>
            <a:r>
              <a:rPr sz="1400" b="0" i="0" dirty="0" err="1">
                <a:solidFill>
                  <a:srgbClr val="152738"/>
                </a:solidFill>
                <a:latin typeface="Aptos"/>
              </a:rPr>
              <a:t>dengan</a:t>
            </a:r>
            <a:r>
              <a:rPr sz="1400" b="0" i="0" dirty="0">
                <a:solidFill>
                  <a:srgbClr val="152738"/>
                </a:solidFill>
                <a:latin typeface="Aptos"/>
              </a:rPr>
              <a:t> </a:t>
            </a:r>
            <a:r>
              <a:rPr sz="1400" b="0" i="0" dirty="0" err="1">
                <a:solidFill>
                  <a:srgbClr val="152738"/>
                </a:solidFill>
                <a:latin typeface="Aptos"/>
              </a:rPr>
              <a:t>jelas</a:t>
            </a:r>
            <a:r>
              <a:rPr sz="1400" b="0" i="0" dirty="0">
                <a:solidFill>
                  <a:srgbClr val="152738"/>
                </a:solidFill>
                <a:latin typeface="Aptos"/>
              </a:rPr>
              <a:t> agar </a:t>
            </a:r>
            <a:r>
              <a:rPr sz="1400" b="0" i="0" dirty="0" err="1">
                <a:solidFill>
                  <a:srgbClr val="152738"/>
                </a:solidFill>
                <a:latin typeface="Aptos"/>
              </a:rPr>
              <a:t>pembaca</a:t>
            </a:r>
            <a:r>
              <a:rPr sz="1400" b="0" i="0" dirty="0">
                <a:solidFill>
                  <a:srgbClr val="152738"/>
                </a:solidFill>
                <a:latin typeface="Aptos"/>
              </a:rPr>
              <a:t> </a:t>
            </a:r>
            <a:r>
              <a:rPr sz="1400" b="0" i="0" dirty="0" err="1">
                <a:solidFill>
                  <a:srgbClr val="152738"/>
                </a:solidFill>
                <a:latin typeface="Aptos"/>
              </a:rPr>
              <a:t>memahami</a:t>
            </a:r>
            <a:r>
              <a:rPr sz="1400" b="0" i="0" dirty="0">
                <a:solidFill>
                  <a:srgbClr val="152738"/>
                </a:solidFill>
                <a:latin typeface="Aptos"/>
              </a:rPr>
              <a:t> </a:t>
            </a:r>
            <a:r>
              <a:rPr sz="1400" b="0" i="0" dirty="0" err="1">
                <a:solidFill>
                  <a:srgbClr val="152738"/>
                </a:solidFill>
                <a:latin typeface="Aptos"/>
              </a:rPr>
              <a:t>hal</a:t>
            </a:r>
            <a:r>
              <a:rPr sz="1400" b="0" i="0" dirty="0">
                <a:solidFill>
                  <a:srgbClr val="152738"/>
                </a:solidFill>
                <a:latin typeface="Aptos"/>
              </a:rPr>
              <a:t> yang </a:t>
            </a:r>
            <a:r>
              <a:rPr sz="1400" b="0" i="0" dirty="0" err="1">
                <a:solidFill>
                  <a:srgbClr val="152738"/>
                </a:solidFill>
                <a:latin typeface="Aptos"/>
              </a:rPr>
              <a:t>perlu</a:t>
            </a:r>
            <a:r>
              <a:rPr sz="1400" b="0" i="0" dirty="0">
                <a:solidFill>
                  <a:srgbClr val="152738"/>
                </a:solidFill>
                <a:latin typeface="Aptos"/>
              </a:rPr>
              <a:t> </a:t>
            </a:r>
            <a:r>
              <a:rPr sz="1400" b="0" i="0" dirty="0" err="1">
                <a:solidFill>
                  <a:srgbClr val="152738"/>
                </a:solidFill>
                <a:latin typeface="Aptos"/>
              </a:rPr>
              <a:t>dilakukan</a:t>
            </a:r>
            <a:r>
              <a:rPr sz="1400" b="0" i="0" dirty="0">
                <a:solidFill>
                  <a:srgbClr val="152738"/>
                </a:solidFill>
                <a:latin typeface="Aptos"/>
              </a:rPr>
              <a:t>.</a:t>
            </a:r>
          </a:p>
          <a:p>
            <a:pPr algn="l">
              <a:spcAft>
                <a:spcPts val="500"/>
              </a:spcAft>
            </a:pPr>
            <a:endParaRPr sz="1400" b="0" i="0" dirty="0">
              <a:solidFill>
                <a:srgbClr val="152738"/>
              </a:solidFill>
              <a:latin typeface="Aptos"/>
            </a:endParaRPr>
          </a:p>
          <a:p>
            <a:pPr algn="l">
              <a:spcAft>
                <a:spcPts val="500"/>
              </a:spcAft>
            </a:pPr>
            <a:r>
              <a:rPr sz="1400" b="0" i="0" dirty="0" err="1">
                <a:solidFill>
                  <a:srgbClr val="152738"/>
                </a:solidFill>
                <a:latin typeface="Aptos"/>
              </a:rPr>
              <a:t>Contoh</a:t>
            </a:r>
            <a:r>
              <a:rPr sz="1400" b="0" i="0" dirty="0">
                <a:solidFill>
                  <a:srgbClr val="152738"/>
                </a:solidFill>
                <a:latin typeface="Aptos"/>
              </a:rPr>
              <a:t>: </a:t>
            </a:r>
            <a:r>
              <a:rPr sz="1400" b="0" i="0" dirty="0" err="1">
                <a:solidFill>
                  <a:srgbClr val="152738"/>
                </a:solidFill>
                <a:latin typeface="Aptos"/>
              </a:rPr>
              <a:t>penjelasan</a:t>
            </a:r>
            <a:r>
              <a:rPr sz="1400" b="0" i="0" dirty="0">
                <a:solidFill>
                  <a:srgbClr val="152738"/>
                </a:solidFill>
                <a:latin typeface="Aptos"/>
              </a:rPr>
              <a:t> </a:t>
            </a:r>
            <a:r>
              <a:rPr sz="1400" b="0" i="0" dirty="0" err="1">
                <a:solidFill>
                  <a:srgbClr val="152738"/>
                </a:solidFill>
                <a:latin typeface="Aptos"/>
              </a:rPr>
              <a:t>cara</a:t>
            </a:r>
            <a:r>
              <a:rPr sz="1400" b="0" i="0" dirty="0">
                <a:solidFill>
                  <a:srgbClr val="152738"/>
                </a:solidFill>
                <a:latin typeface="Aptos"/>
              </a:rPr>
              <a:t> </a:t>
            </a:r>
            <a:r>
              <a:rPr sz="1400" b="0" i="0" dirty="0" err="1">
                <a:solidFill>
                  <a:srgbClr val="152738"/>
                </a:solidFill>
                <a:latin typeface="Aptos"/>
              </a:rPr>
              <a:t>menjalankan</a:t>
            </a:r>
            <a:r>
              <a:rPr sz="1400" b="0" i="0" dirty="0">
                <a:solidFill>
                  <a:srgbClr val="152738"/>
                </a:solidFill>
                <a:latin typeface="Aptos"/>
              </a:rPr>
              <a:t> </a:t>
            </a:r>
            <a:r>
              <a:rPr sz="1400" b="0" i="0" dirty="0" err="1">
                <a:solidFill>
                  <a:srgbClr val="152738"/>
                </a:solidFill>
                <a:latin typeface="Aptos"/>
              </a:rPr>
              <a:t>mesin</a:t>
            </a:r>
            <a:r>
              <a:rPr sz="1400" b="0" i="0" dirty="0">
                <a:solidFill>
                  <a:srgbClr val="152738"/>
                </a:solidFill>
                <a:latin typeface="Aptos"/>
              </a:rPr>
              <a:t>, </a:t>
            </a:r>
            <a:r>
              <a:rPr sz="1400" b="0" i="0" dirty="0" err="1">
                <a:solidFill>
                  <a:srgbClr val="152738"/>
                </a:solidFill>
                <a:latin typeface="Aptos"/>
              </a:rPr>
              <a:t>menggunakan</a:t>
            </a:r>
            <a:r>
              <a:rPr sz="1400" b="0" i="0" dirty="0">
                <a:solidFill>
                  <a:srgbClr val="152738"/>
                </a:solidFill>
                <a:latin typeface="Aptos"/>
              </a:rPr>
              <a:t> </a:t>
            </a:r>
            <a:r>
              <a:rPr sz="1400" b="0" i="0" dirty="0" err="1">
                <a:solidFill>
                  <a:srgbClr val="152738"/>
                </a:solidFill>
                <a:latin typeface="Aptos"/>
              </a:rPr>
              <a:t>obat</a:t>
            </a:r>
            <a:r>
              <a:rPr sz="1400" b="0" i="0" dirty="0">
                <a:solidFill>
                  <a:srgbClr val="152738"/>
                </a:solidFill>
                <a:latin typeface="Aptos"/>
              </a:rPr>
              <a:t>, </a:t>
            </a:r>
            <a:r>
              <a:rPr sz="1400" b="0" i="0" dirty="0" err="1">
                <a:solidFill>
                  <a:srgbClr val="152738"/>
                </a:solidFill>
                <a:latin typeface="Aptos"/>
              </a:rPr>
              <a:t>meminum</a:t>
            </a:r>
            <a:r>
              <a:rPr sz="1400" b="0" i="0" dirty="0">
                <a:solidFill>
                  <a:srgbClr val="152738"/>
                </a:solidFill>
                <a:latin typeface="Aptos"/>
              </a:rPr>
              <a:t> </a:t>
            </a:r>
            <a:r>
              <a:rPr sz="1400" b="0" i="0" dirty="0" err="1">
                <a:solidFill>
                  <a:srgbClr val="152738"/>
                </a:solidFill>
                <a:latin typeface="Aptos"/>
              </a:rPr>
              <a:t>obat</a:t>
            </a:r>
            <a:r>
              <a:rPr sz="1400" b="0" i="0" dirty="0">
                <a:solidFill>
                  <a:srgbClr val="152738"/>
                </a:solidFill>
                <a:latin typeface="Aptos"/>
              </a:rPr>
              <a:t> </a:t>
            </a:r>
            <a:r>
              <a:rPr sz="1400" b="0" i="0" dirty="0" err="1">
                <a:solidFill>
                  <a:srgbClr val="152738"/>
                </a:solidFill>
                <a:latin typeface="Aptos"/>
              </a:rPr>
              <a:t>dengan</a:t>
            </a:r>
            <a:r>
              <a:rPr sz="1400" b="0" i="0" dirty="0">
                <a:solidFill>
                  <a:srgbClr val="152738"/>
                </a:solidFill>
                <a:latin typeface="Aptos"/>
              </a:rPr>
              <a:t> </a:t>
            </a:r>
            <a:r>
              <a:rPr sz="1400" b="0" i="0" dirty="0" err="1">
                <a:solidFill>
                  <a:srgbClr val="152738"/>
                </a:solidFill>
                <a:latin typeface="Aptos"/>
              </a:rPr>
              <a:t>benar</a:t>
            </a:r>
            <a:r>
              <a:rPr sz="1400" b="0" i="0" dirty="0">
                <a:solidFill>
                  <a:srgbClr val="152738"/>
                </a:solidFill>
                <a:latin typeface="Aptos"/>
              </a:rPr>
              <a:t>, </a:t>
            </a:r>
            <a:r>
              <a:rPr sz="1400" b="0" i="0" dirty="0" err="1">
                <a:solidFill>
                  <a:srgbClr val="152738"/>
                </a:solidFill>
                <a:latin typeface="Aptos"/>
              </a:rPr>
              <a:t>atau</a:t>
            </a:r>
            <a:r>
              <a:rPr sz="1400" b="0" i="0" dirty="0">
                <a:solidFill>
                  <a:srgbClr val="152738"/>
                </a:solidFill>
                <a:latin typeface="Aptos"/>
              </a:rPr>
              <a:t> </a:t>
            </a:r>
            <a:r>
              <a:rPr sz="1400" b="0" i="0" dirty="0" err="1">
                <a:solidFill>
                  <a:srgbClr val="152738"/>
                </a:solidFill>
                <a:latin typeface="Aptos"/>
              </a:rPr>
              <a:t>merangkai</a:t>
            </a:r>
            <a:r>
              <a:rPr sz="1400" b="0" i="0" dirty="0">
                <a:solidFill>
                  <a:srgbClr val="152738"/>
                </a:solidFill>
                <a:latin typeface="Aptos"/>
              </a:rPr>
              <a:t> </a:t>
            </a:r>
            <a:r>
              <a:rPr sz="1400" b="0" i="0" dirty="0" err="1">
                <a:solidFill>
                  <a:srgbClr val="152738"/>
                </a:solidFill>
                <a:latin typeface="Aptos"/>
              </a:rPr>
              <a:t>bunga</a:t>
            </a:r>
            <a:r>
              <a:rPr sz="1400" b="0" i="0" dirty="0">
                <a:solidFill>
                  <a:srgbClr val="152738"/>
                </a:solidFill>
                <a:latin typeface="Aptos"/>
              </a:rPr>
              <a:t>.</a:t>
            </a:r>
          </a:p>
        </p:txBody>
      </p:sp>
      <p:sp>
        <p:nvSpPr>
          <p:cNvPr id="12" name="Rounded Rectangle 11"/>
          <p:cNvSpPr/>
          <p:nvPr/>
        </p:nvSpPr>
        <p:spPr>
          <a:xfrm>
            <a:off x="6263640" y="1737360"/>
            <a:ext cx="5074920" cy="3429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737360"/>
            <a:ext cx="68580" cy="3429000"/>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1883664"/>
            <a:ext cx="4709159" cy="365760"/>
          </a:xfrm>
          <a:prstGeom prst="rect">
            <a:avLst/>
          </a:prstGeom>
          <a:noFill/>
        </p:spPr>
        <p:txBody>
          <a:bodyPr wrap="square" lIns="0" tIns="0" rIns="0" bIns="0" anchor="t">
            <a:spAutoFit/>
          </a:bodyPr>
          <a:lstStyle/>
          <a:p>
            <a:pPr algn="l">
              <a:spcAft>
                <a:spcPts val="500"/>
              </a:spcAft>
            </a:pPr>
            <a:r>
              <a:rPr sz="1700" b="1" i="0">
                <a:solidFill>
                  <a:srgbClr val="152738"/>
                </a:solidFill>
                <a:latin typeface="Aptos"/>
              </a:rPr>
              <a:t>02 • PENJELASAN TENTANG SUATU HAL</a:t>
            </a:r>
          </a:p>
        </p:txBody>
      </p:sp>
      <p:sp>
        <p:nvSpPr>
          <p:cNvPr id="15" name="TextBox 14"/>
          <p:cNvSpPr txBox="1"/>
          <p:nvPr/>
        </p:nvSpPr>
        <p:spPr>
          <a:xfrm>
            <a:off x="6464807" y="2331720"/>
            <a:ext cx="4690872" cy="1223925"/>
          </a:xfrm>
          <a:prstGeom prst="rect">
            <a:avLst/>
          </a:prstGeom>
          <a:noFill/>
        </p:spPr>
        <p:txBody>
          <a:bodyPr wrap="square" lIns="9144" tIns="9144" rIns="9144" bIns="9144" anchor="t">
            <a:spAutoFit/>
          </a:bodyPr>
          <a:lstStyle/>
          <a:p>
            <a:pPr algn="l">
              <a:spcAft>
                <a:spcPts val="500"/>
              </a:spcAft>
            </a:pPr>
            <a:r>
              <a:rPr sz="1400" b="0" i="0" dirty="0" err="1">
                <a:solidFill>
                  <a:srgbClr val="152738"/>
                </a:solidFill>
                <a:latin typeface="Aptos"/>
              </a:rPr>
              <a:t>Deskripsi</a:t>
            </a:r>
            <a:r>
              <a:rPr sz="1400" b="0" i="0" dirty="0">
                <a:solidFill>
                  <a:srgbClr val="152738"/>
                </a:solidFill>
                <a:latin typeface="Aptos"/>
              </a:rPr>
              <a:t> </a:t>
            </a:r>
            <a:r>
              <a:rPr sz="1400" b="0" i="0" dirty="0" err="1">
                <a:solidFill>
                  <a:srgbClr val="152738"/>
                </a:solidFill>
                <a:latin typeface="Aptos"/>
              </a:rPr>
              <a:t>dapat</a:t>
            </a:r>
            <a:r>
              <a:rPr sz="1400" b="0" i="0" dirty="0">
                <a:solidFill>
                  <a:srgbClr val="152738"/>
                </a:solidFill>
                <a:latin typeface="Aptos"/>
              </a:rPr>
              <a:t> </a:t>
            </a:r>
            <a:r>
              <a:rPr sz="1400" b="0" i="0" dirty="0" err="1">
                <a:solidFill>
                  <a:srgbClr val="152738"/>
                </a:solidFill>
                <a:latin typeface="Aptos"/>
              </a:rPr>
              <a:t>menjelaskan</a:t>
            </a:r>
            <a:r>
              <a:rPr sz="1400" b="0" i="0" dirty="0">
                <a:solidFill>
                  <a:srgbClr val="152738"/>
                </a:solidFill>
                <a:latin typeface="Aptos"/>
              </a:rPr>
              <a:t> </a:t>
            </a:r>
            <a:r>
              <a:rPr sz="1400" b="0" i="0" dirty="0" err="1">
                <a:solidFill>
                  <a:srgbClr val="152738"/>
                </a:solidFill>
                <a:latin typeface="Aptos"/>
              </a:rPr>
              <a:t>sesuatu</a:t>
            </a:r>
            <a:r>
              <a:rPr sz="1400" b="0" i="0" dirty="0">
                <a:solidFill>
                  <a:srgbClr val="152738"/>
                </a:solidFill>
                <a:latin typeface="Aptos"/>
              </a:rPr>
              <a:t> agar </a:t>
            </a:r>
            <a:r>
              <a:rPr sz="1400" b="0" i="0" dirty="0" err="1">
                <a:solidFill>
                  <a:srgbClr val="152738"/>
                </a:solidFill>
                <a:latin typeface="Aptos"/>
              </a:rPr>
              <a:t>pembaca</a:t>
            </a:r>
            <a:r>
              <a:rPr sz="1400" b="0" i="0" dirty="0">
                <a:solidFill>
                  <a:srgbClr val="152738"/>
                </a:solidFill>
                <a:latin typeface="Aptos"/>
              </a:rPr>
              <a:t> </a:t>
            </a:r>
            <a:r>
              <a:rPr sz="1400" b="0" i="0" dirty="0" err="1">
                <a:solidFill>
                  <a:srgbClr val="152738"/>
                </a:solidFill>
                <a:latin typeface="Aptos"/>
              </a:rPr>
              <a:t>memperoleh</a:t>
            </a:r>
            <a:r>
              <a:rPr sz="1400" b="0" i="0" dirty="0">
                <a:solidFill>
                  <a:srgbClr val="152738"/>
                </a:solidFill>
                <a:latin typeface="Aptos"/>
              </a:rPr>
              <a:t> </a:t>
            </a:r>
            <a:r>
              <a:rPr sz="1400" b="0" i="0" dirty="0" err="1">
                <a:solidFill>
                  <a:srgbClr val="152738"/>
                </a:solidFill>
                <a:latin typeface="Aptos"/>
              </a:rPr>
              <a:t>pemahaman</a:t>
            </a:r>
            <a:r>
              <a:rPr sz="1400" b="0" i="0" dirty="0">
                <a:solidFill>
                  <a:srgbClr val="152738"/>
                </a:solidFill>
                <a:latin typeface="Aptos"/>
              </a:rPr>
              <a:t> yang </a:t>
            </a:r>
            <a:r>
              <a:rPr sz="1400" b="0" i="0" dirty="0" err="1">
                <a:solidFill>
                  <a:srgbClr val="152738"/>
                </a:solidFill>
                <a:latin typeface="Aptos"/>
              </a:rPr>
              <a:t>lebih</a:t>
            </a:r>
            <a:r>
              <a:rPr sz="1400" b="0" i="0" dirty="0">
                <a:solidFill>
                  <a:srgbClr val="152738"/>
                </a:solidFill>
                <a:latin typeface="Aptos"/>
              </a:rPr>
              <a:t> </a:t>
            </a:r>
            <a:r>
              <a:rPr sz="1400" b="0" i="0" dirty="0" err="1">
                <a:solidFill>
                  <a:srgbClr val="152738"/>
                </a:solidFill>
                <a:latin typeface="Aptos"/>
              </a:rPr>
              <a:t>baik</a:t>
            </a:r>
            <a:r>
              <a:rPr sz="1400" b="0" i="0" dirty="0">
                <a:solidFill>
                  <a:srgbClr val="152738"/>
                </a:solidFill>
                <a:latin typeface="Aptos"/>
              </a:rPr>
              <a:t>.</a:t>
            </a:r>
          </a:p>
          <a:p>
            <a:pPr algn="l">
              <a:spcAft>
                <a:spcPts val="500"/>
              </a:spcAft>
            </a:pPr>
            <a:endParaRPr sz="1400" b="0" i="0" dirty="0">
              <a:solidFill>
                <a:srgbClr val="152738"/>
              </a:solidFill>
              <a:latin typeface="Aptos"/>
            </a:endParaRPr>
          </a:p>
          <a:p>
            <a:pPr algn="l">
              <a:spcAft>
                <a:spcPts val="500"/>
              </a:spcAft>
            </a:pPr>
            <a:r>
              <a:rPr sz="1400" b="0" i="0" dirty="0" err="1">
                <a:solidFill>
                  <a:srgbClr val="152738"/>
                </a:solidFill>
                <a:latin typeface="Aptos"/>
              </a:rPr>
              <a:t>Contoh</a:t>
            </a:r>
            <a:r>
              <a:rPr sz="1400" b="0" i="0" dirty="0">
                <a:solidFill>
                  <a:srgbClr val="152738"/>
                </a:solidFill>
                <a:latin typeface="Aptos"/>
              </a:rPr>
              <a:t>: </a:t>
            </a:r>
            <a:r>
              <a:rPr sz="1400" b="0" i="0" dirty="0" err="1">
                <a:solidFill>
                  <a:srgbClr val="152738"/>
                </a:solidFill>
                <a:latin typeface="Aptos"/>
              </a:rPr>
              <a:t>pentingnya</a:t>
            </a:r>
            <a:r>
              <a:rPr sz="1400" b="0" i="0" dirty="0">
                <a:solidFill>
                  <a:srgbClr val="152738"/>
                </a:solidFill>
                <a:latin typeface="Aptos"/>
              </a:rPr>
              <a:t> </a:t>
            </a:r>
            <a:r>
              <a:rPr sz="1400" b="0" i="0" dirty="0" err="1">
                <a:solidFill>
                  <a:srgbClr val="152738"/>
                </a:solidFill>
                <a:latin typeface="Aptos"/>
              </a:rPr>
              <a:t>berenang</a:t>
            </a:r>
            <a:r>
              <a:rPr sz="1400" b="0" i="0" dirty="0">
                <a:solidFill>
                  <a:srgbClr val="152738"/>
                </a:solidFill>
                <a:latin typeface="Aptos"/>
              </a:rPr>
              <a:t>, </a:t>
            </a:r>
            <a:r>
              <a:rPr sz="1400" b="0" i="0" dirty="0" err="1">
                <a:solidFill>
                  <a:srgbClr val="152738"/>
                </a:solidFill>
                <a:latin typeface="Aptos"/>
              </a:rPr>
              <a:t>pentingnya</a:t>
            </a:r>
            <a:r>
              <a:rPr sz="1400" b="0" i="0" dirty="0">
                <a:solidFill>
                  <a:srgbClr val="152738"/>
                </a:solidFill>
                <a:latin typeface="Aptos"/>
              </a:rPr>
              <a:t> </a:t>
            </a:r>
            <a:r>
              <a:rPr sz="1400" b="0" i="0" dirty="0" err="1">
                <a:solidFill>
                  <a:srgbClr val="152738"/>
                </a:solidFill>
                <a:latin typeface="Aptos"/>
              </a:rPr>
              <a:t>menjaga</a:t>
            </a:r>
            <a:r>
              <a:rPr sz="1400" b="0" i="0" dirty="0">
                <a:solidFill>
                  <a:srgbClr val="152738"/>
                </a:solidFill>
                <a:latin typeface="Aptos"/>
              </a:rPr>
              <a:t> </a:t>
            </a:r>
            <a:r>
              <a:rPr sz="1400" b="0" i="0" dirty="0" err="1">
                <a:solidFill>
                  <a:srgbClr val="152738"/>
                </a:solidFill>
                <a:latin typeface="Aptos"/>
              </a:rPr>
              <a:t>kelestarian</a:t>
            </a:r>
            <a:r>
              <a:rPr sz="1400" b="0" i="0" dirty="0">
                <a:solidFill>
                  <a:srgbClr val="152738"/>
                </a:solidFill>
                <a:latin typeface="Aptos"/>
              </a:rPr>
              <a:t> </a:t>
            </a:r>
            <a:r>
              <a:rPr sz="1400" b="0" i="0" dirty="0" err="1">
                <a:solidFill>
                  <a:srgbClr val="152738"/>
                </a:solidFill>
                <a:latin typeface="Aptos"/>
              </a:rPr>
              <a:t>lingkungan</a:t>
            </a:r>
            <a:r>
              <a:rPr sz="1400" b="0" i="0" dirty="0">
                <a:solidFill>
                  <a:srgbClr val="152738"/>
                </a:solidFill>
                <a:latin typeface="Aptos"/>
              </a:rPr>
              <a:t>, </a:t>
            </a:r>
            <a:r>
              <a:rPr sz="1400" b="0" i="0" dirty="0" err="1">
                <a:solidFill>
                  <a:srgbClr val="152738"/>
                </a:solidFill>
                <a:latin typeface="Aptos"/>
              </a:rPr>
              <a:t>serta</a:t>
            </a:r>
            <a:r>
              <a:rPr sz="1400" b="0" i="0" dirty="0">
                <a:solidFill>
                  <a:srgbClr val="152738"/>
                </a:solidFill>
                <a:latin typeface="Aptos"/>
              </a:rPr>
              <a:t> </a:t>
            </a:r>
            <a:r>
              <a:rPr sz="1400" b="0" i="0" dirty="0" err="1">
                <a:solidFill>
                  <a:srgbClr val="152738"/>
                </a:solidFill>
                <a:latin typeface="Aptos"/>
              </a:rPr>
              <a:t>keadaan</a:t>
            </a:r>
            <a:r>
              <a:rPr sz="1400" b="0" i="0" dirty="0">
                <a:solidFill>
                  <a:srgbClr val="152738"/>
                </a:solidFill>
                <a:latin typeface="Aptos"/>
              </a:rPr>
              <a:t> </a:t>
            </a:r>
            <a:r>
              <a:rPr sz="1400" b="0" i="0" dirty="0" err="1">
                <a:solidFill>
                  <a:srgbClr val="152738"/>
                </a:solidFill>
                <a:latin typeface="Aptos"/>
              </a:rPr>
              <a:t>atau</a:t>
            </a:r>
            <a:r>
              <a:rPr sz="1400" b="0" i="0" dirty="0">
                <a:solidFill>
                  <a:srgbClr val="152738"/>
                </a:solidFill>
                <a:latin typeface="Aptos"/>
              </a:rPr>
              <a:t> </a:t>
            </a:r>
            <a:r>
              <a:rPr sz="1400" b="0" i="0" dirty="0" err="1">
                <a:solidFill>
                  <a:srgbClr val="152738"/>
                </a:solidFill>
                <a:latin typeface="Aptos"/>
              </a:rPr>
              <a:t>kondisi</a:t>
            </a:r>
            <a:r>
              <a:rPr sz="1400" b="0" i="0" dirty="0">
                <a:solidFill>
                  <a:srgbClr val="152738"/>
                </a:solidFill>
                <a:latin typeface="Aptos"/>
              </a:rPr>
              <a:t> </a:t>
            </a:r>
            <a:r>
              <a:rPr sz="1400" b="0" i="0" dirty="0" err="1">
                <a:solidFill>
                  <a:srgbClr val="152738"/>
                </a:solidFill>
                <a:latin typeface="Aptos"/>
              </a:rPr>
              <a:t>suatu</a:t>
            </a:r>
            <a:r>
              <a:rPr sz="1400" b="0" i="0" dirty="0">
                <a:solidFill>
                  <a:srgbClr val="152738"/>
                </a:solidFill>
                <a:latin typeface="Aptos"/>
              </a:rPr>
              <a:t> </a:t>
            </a:r>
            <a:r>
              <a:rPr sz="1400" b="0" i="0" dirty="0" err="1">
                <a:solidFill>
                  <a:srgbClr val="152738"/>
                </a:solidFill>
                <a:latin typeface="Aptos"/>
              </a:rPr>
              <a:t>tempat</a:t>
            </a:r>
            <a:r>
              <a:rPr sz="1400" b="0" i="0" dirty="0">
                <a:solidFill>
                  <a:srgbClr val="152738"/>
                </a:solidFill>
                <a:latin typeface="Aptos"/>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B • TUJUAN</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Empat kegunaan deskripsi (2/2)</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09</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9</a:t>
            </a:r>
          </a:p>
        </p:txBody>
      </p:sp>
      <p:sp>
        <p:nvSpPr>
          <p:cNvPr id="8" name="Rounded Rectangle 7"/>
          <p:cNvSpPr/>
          <p:nvPr/>
        </p:nvSpPr>
        <p:spPr>
          <a:xfrm>
            <a:off x="822960" y="1737360"/>
            <a:ext cx="5074920" cy="3429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737360"/>
            <a:ext cx="68580" cy="3429000"/>
          </a:xfrm>
          <a:prstGeom prst="rect">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883664"/>
            <a:ext cx="4709159" cy="365760"/>
          </a:xfrm>
          <a:prstGeom prst="rect">
            <a:avLst/>
          </a:prstGeom>
          <a:noFill/>
        </p:spPr>
        <p:txBody>
          <a:bodyPr wrap="square" lIns="0" tIns="0" rIns="0" bIns="0" anchor="t">
            <a:spAutoFit/>
          </a:bodyPr>
          <a:lstStyle/>
          <a:p>
            <a:pPr algn="l">
              <a:spcAft>
                <a:spcPts val="500"/>
              </a:spcAft>
            </a:pPr>
            <a:r>
              <a:rPr sz="1700" b="1" i="0">
                <a:solidFill>
                  <a:srgbClr val="152738"/>
                </a:solidFill>
                <a:latin typeface="Aptos"/>
              </a:rPr>
              <a:t>03 • PENCERITAAN PERISTIWA</a:t>
            </a:r>
          </a:p>
        </p:txBody>
      </p:sp>
      <p:sp>
        <p:nvSpPr>
          <p:cNvPr id="11" name="TextBox 10"/>
          <p:cNvSpPr txBox="1"/>
          <p:nvPr/>
        </p:nvSpPr>
        <p:spPr>
          <a:xfrm>
            <a:off x="1024128" y="2331720"/>
            <a:ext cx="4690872" cy="1439368"/>
          </a:xfrm>
          <a:prstGeom prst="rect">
            <a:avLst/>
          </a:prstGeom>
          <a:noFill/>
        </p:spPr>
        <p:txBody>
          <a:bodyPr wrap="square" lIns="9144" tIns="9144" rIns="9144" bIns="9144" anchor="t">
            <a:spAutoFit/>
          </a:bodyPr>
          <a:lstStyle/>
          <a:p>
            <a:pPr algn="l">
              <a:spcAft>
                <a:spcPts val="500"/>
              </a:spcAft>
            </a:pPr>
            <a:r>
              <a:rPr sz="1400" b="0" i="0" dirty="0" err="1">
                <a:solidFill>
                  <a:srgbClr val="152738"/>
                </a:solidFill>
                <a:latin typeface="Aptos"/>
              </a:rPr>
              <a:t>Deskripsi</a:t>
            </a:r>
            <a:r>
              <a:rPr sz="1400" b="0" i="0" dirty="0">
                <a:solidFill>
                  <a:srgbClr val="152738"/>
                </a:solidFill>
                <a:latin typeface="Aptos"/>
              </a:rPr>
              <a:t> </a:t>
            </a:r>
            <a:r>
              <a:rPr sz="1400" b="0" i="0" dirty="0" err="1">
                <a:solidFill>
                  <a:srgbClr val="152738"/>
                </a:solidFill>
                <a:latin typeface="Aptos"/>
              </a:rPr>
              <a:t>dapat</a:t>
            </a:r>
            <a:r>
              <a:rPr sz="1400" b="0" i="0" dirty="0">
                <a:solidFill>
                  <a:srgbClr val="152738"/>
                </a:solidFill>
                <a:latin typeface="Aptos"/>
              </a:rPr>
              <a:t> </a:t>
            </a:r>
            <a:r>
              <a:rPr sz="1400" b="0" i="0" dirty="0" err="1">
                <a:solidFill>
                  <a:srgbClr val="152738"/>
                </a:solidFill>
                <a:latin typeface="Aptos"/>
              </a:rPr>
              <a:t>menyampaikan</a:t>
            </a:r>
            <a:r>
              <a:rPr sz="1400" b="0" i="0" dirty="0">
                <a:solidFill>
                  <a:srgbClr val="152738"/>
                </a:solidFill>
                <a:latin typeface="Aptos"/>
              </a:rPr>
              <a:t> </a:t>
            </a:r>
            <a:r>
              <a:rPr sz="1400" b="0" i="0" dirty="0" err="1">
                <a:solidFill>
                  <a:srgbClr val="152738"/>
                </a:solidFill>
                <a:latin typeface="Aptos"/>
              </a:rPr>
              <a:t>informasi</a:t>
            </a:r>
            <a:r>
              <a:rPr sz="1400" b="0" i="0" dirty="0">
                <a:solidFill>
                  <a:srgbClr val="152738"/>
                </a:solidFill>
                <a:latin typeface="Aptos"/>
              </a:rPr>
              <a:t> </a:t>
            </a:r>
            <a:r>
              <a:rPr sz="1400" b="0" i="0" dirty="0" err="1">
                <a:solidFill>
                  <a:srgbClr val="152738"/>
                </a:solidFill>
                <a:latin typeface="Aptos"/>
              </a:rPr>
              <a:t>tentang</a:t>
            </a:r>
            <a:r>
              <a:rPr sz="1400" b="0" i="0" dirty="0">
                <a:solidFill>
                  <a:srgbClr val="152738"/>
                </a:solidFill>
                <a:latin typeface="Aptos"/>
              </a:rPr>
              <a:t> </a:t>
            </a:r>
            <a:r>
              <a:rPr sz="1400" b="0" i="0" dirty="0" err="1">
                <a:solidFill>
                  <a:srgbClr val="152738"/>
                </a:solidFill>
                <a:latin typeface="Aptos"/>
              </a:rPr>
              <a:t>peristiwa</a:t>
            </a:r>
            <a:r>
              <a:rPr sz="1400" b="0" i="0" dirty="0">
                <a:solidFill>
                  <a:srgbClr val="152738"/>
                </a:solidFill>
                <a:latin typeface="Aptos"/>
              </a:rPr>
              <a:t> pada </a:t>
            </a:r>
            <a:r>
              <a:rPr sz="1400" b="0" i="0" dirty="0" err="1">
                <a:solidFill>
                  <a:srgbClr val="152738"/>
                </a:solidFill>
                <a:latin typeface="Aptos"/>
              </a:rPr>
              <a:t>lokasi</a:t>
            </a:r>
            <a:r>
              <a:rPr sz="1400" b="0" i="0" dirty="0">
                <a:solidFill>
                  <a:srgbClr val="152738"/>
                </a:solidFill>
                <a:latin typeface="Aptos"/>
              </a:rPr>
              <a:t> dan </a:t>
            </a:r>
            <a:r>
              <a:rPr sz="1400" b="0" i="0" dirty="0" err="1">
                <a:solidFill>
                  <a:srgbClr val="152738"/>
                </a:solidFill>
                <a:latin typeface="Aptos"/>
              </a:rPr>
              <a:t>waktu</a:t>
            </a:r>
            <a:r>
              <a:rPr sz="1400" b="0" i="0" dirty="0">
                <a:solidFill>
                  <a:srgbClr val="152738"/>
                </a:solidFill>
                <a:latin typeface="Aptos"/>
              </a:rPr>
              <a:t> </a:t>
            </a:r>
            <a:r>
              <a:rPr sz="1400" b="0" i="0" dirty="0" err="1">
                <a:solidFill>
                  <a:srgbClr val="152738"/>
                </a:solidFill>
                <a:latin typeface="Aptos"/>
              </a:rPr>
              <a:t>tertentu</a:t>
            </a:r>
            <a:r>
              <a:rPr sz="1400" b="0" i="0" dirty="0">
                <a:solidFill>
                  <a:srgbClr val="152738"/>
                </a:solidFill>
                <a:latin typeface="Aptos"/>
              </a:rPr>
              <a:t>.</a:t>
            </a:r>
          </a:p>
          <a:p>
            <a:pPr algn="l">
              <a:spcAft>
                <a:spcPts val="500"/>
              </a:spcAft>
            </a:pPr>
            <a:endParaRPr sz="1400" b="0" i="0" dirty="0">
              <a:solidFill>
                <a:srgbClr val="152738"/>
              </a:solidFill>
              <a:latin typeface="Aptos"/>
            </a:endParaRPr>
          </a:p>
          <a:p>
            <a:pPr algn="l">
              <a:spcAft>
                <a:spcPts val="500"/>
              </a:spcAft>
            </a:pPr>
            <a:r>
              <a:rPr sz="1400" b="0" i="0" dirty="0">
                <a:solidFill>
                  <a:srgbClr val="152738"/>
                </a:solidFill>
                <a:latin typeface="Aptos"/>
              </a:rPr>
              <a:t>Hal yang </a:t>
            </a:r>
            <a:r>
              <a:rPr sz="1400" b="0" i="0" dirty="0" err="1">
                <a:solidFill>
                  <a:srgbClr val="152738"/>
                </a:solidFill>
                <a:latin typeface="Aptos"/>
              </a:rPr>
              <a:t>dapat</a:t>
            </a:r>
            <a:r>
              <a:rPr sz="1400" b="0" i="0" dirty="0">
                <a:solidFill>
                  <a:srgbClr val="152738"/>
                </a:solidFill>
                <a:latin typeface="Aptos"/>
              </a:rPr>
              <a:t> </a:t>
            </a:r>
            <a:r>
              <a:rPr sz="1400" b="0" i="0" dirty="0" err="1">
                <a:solidFill>
                  <a:srgbClr val="152738"/>
                </a:solidFill>
                <a:latin typeface="Aptos"/>
              </a:rPr>
              <a:t>digambarkan</a:t>
            </a:r>
            <a:r>
              <a:rPr sz="1400" b="0" i="0" dirty="0">
                <a:solidFill>
                  <a:srgbClr val="152738"/>
                </a:solidFill>
                <a:latin typeface="Aptos"/>
              </a:rPr>
              <a:t>: </a:t>
            </a:r>
            <a:r>
              <a:rPr sz="1400" b="0" i="0" dirty="0" err="1">
                <a:solidFill>
                  <a:srgbClr val="152738"/>
                </a:solidFill>
                <a:latin typeface="Aptos"/>
              </a:rPr>
              <a:t>tempat</a:t>
            </a:r>
            <a:r>
              <a:rPr sz="1400" b="0" i="0" dirty="0">
                <a:solidFill>
                  <a:srgbClr val="152738"/>
                </a:solidFill>
                <a:latin typeface="Aptos"/>
              </a:rPr>
              <a:t> </a:t>
            </a:r>
            <a:r>
              <a:rPr sz="1400" b="0" i="0" dirty="0" err="1">
                <a:solidFill>
                  <a:srgbClr val="152738"/>
                </a:solidFill>
                <a:latin typeface="Aptos"/>
              </a:rPr>
              <a:t>kejadian</a:t>
            </a:r>
            <a:r>
              <a:rPr sz="1400" b="0" i="0" dirty="0">
                <a:solidFill>
                  <a:srgbClr val="152738"/>
                </a:solidFill>
                <a:latin typeface="Aptos"/>
              </a:rPr>
              <a:t>, </a:t>
            </a:r>
            <a:r>
              <a:rPr sz="1400" b="0" i="0" dirty="0" err="1">
                <a:solidFill>
                  <a:srgbClr val="152738"/>
                </a:solidFill>
                <a:latin typeface="Aptos"/>
              </a:rPr>
              <a:t>keadaan</a:t>
            </a:r>
            <a:r>
              <a:rPr sz="1400" b="0" i="0" dirty="0">
                <a:solidFill>
                  <a:srgbClr val="152738"/>
                </a:solidFill>
                <a:latin typeface="Aptos"/>
              </a:rPr>
              <a:t> </a:t>
            </a:r>
            <a:r>
              <a:rPr sz="1400" b="0" i="0" dirty="0" err="1">
                <a:solidFill>
                  <a:srgbClr val="152738"/>
                </a:solidFill>
                <a:latin typeface="Aptos"/>
              </a:rPr>
              <a:t>lingkungan</a:t>
            </a:r>
            <a:r>
              <a:rPr sz="1400" b="0" i="0" dirty="0">
                <a:solidFill>
                  <a:srgbClr val="152738"/>
                </a:solidFill>
                <a:latin typeface="Aptos"/>
              </a:rPr>
              <a:t>, </a:t>
            </a:r>
            <a:r>
              <a:rPr sz="1400" b="0" i="0" dirty="0" err="1">
                <a:solidFill>
                  <a:srgbClr val="152738"/>
                </a:solidFill>
                <a:latin typeface="Aptos"/>
              </a:rPr>
              <a:t>suasana</a:t>
            </a:r>
            <a:r>
              <a:rPr sz="1400" b="0" i="0" dirty="0">
                <a:solidFill>
                  <a:srgbClr val="152738"/>
                </a:solidFill>
                <a:latin typeface="Aptos"/>
              </a:rPr>
              <a:t>, orang-orang yang </a:t>
            </a:r>
            <a:r>
              <a:rPr sz="1400" b="0" i="0" dirty="0" err="1">
                <a:solidFill>
                  <a:srgbClr val="152738"/>
                </a:solidFill>
                <a:latin typeface="Aptos"/>
              </a:rPr>
              <a:t>terlibat</a:t>
            </a:r>
            <a:r>
              <a:rPr sz="1400" b="0" i="0" dirty="0">
                <a:solidFill>
                  <a:srgbClr val="152738"/>
                </a:solidFill>
                <a:latin typeface="Aptos"/>
              </a:rPr>
              <a:t>, dan </a:t>
            </a:r>
            <a:r>
              <a:rPr sz="1400" b="0" i="0" dirty="0" err="1">
                <a:solidFill>
                  <a:srgbClr val="152738"/>
                </a:solidFill>
                <a:latin typeface="Aptos"/>
              </a:rPr>
              <a:t>hal</a:t>
            </a:r>
            <a:r>
              <a:rPr sz="1400" b="0" i="0" dirty="0">
                <a:solidFill>
                  <a:srgbClr val="152738"/>
                </a:solidFill>
                <a:latin typeface="Aptos"/>
              </a:rPr>
              <a:t> </a:t>
            </a:r>
            <a:r>
              <a:rPr sz="1400" b="0" i="0" dirty="0" err="1">
                <a:solidFill>
                  <a:srgbClr val="152738"/>
                </a:solidFill>
                <a:latin typeface="Aptos"/>
              </a:rPr>
              <a:t>terkait</a:t>
            </a:r>
            <a:r>
              <a:rPr sz="1400" b="0" i="0" dirty="0">
                <a:solidFill>
                  <a:srgbClr val="152738"/>
                </a:solidFill>
                <a:latin typeface="Aptos"/>
              </a:rPr>
              <a:t> </a:t>
            </a:r>
            <a:r>
              <a:rPr sz="1400" b="0" i="0" dirty="0" err="1">
                <a:solidFill>
                  <a:srgbClr val="152738"/>
                </a:solidFill>
                <a:latin typeface="Aptos"/>
              </a:rPr>
              <a:t>lainnya</a:t>
            </a:r>
            <a:r>
              <a:rPr sz="1400" b="0" i="0" dirty="0">
                <a:solidFill>
                  <a:srgbClr val="152738"/>
                </a:solidFill>
                <a:latin typeface="Aptos"/>
              </a:rPr>
              <a:t>.</a:t>
            </a:r>
            <a:r>
              <a:rPr lang="en-US" sz="1400" b="0" i="0" dirty="0">
                <a:solidFill>
                  <a:srgbClr val="152738"/>
                </a:solidFill>
                <a:latin typeface="Aptos"/>
              </a:rPr>
              <a:t> </a:t>
            </a:r>
            <a:endParaRPr sz="1400" b="0" i="0" dirty="0">
              <a:solidFill>
                <a:srgbClr val="152738"/>
              </a:solidFill>
              <a:latin typeface="Aptos"/>
            </a:endParaRPr>
          </a:p>
        </p:txBody>
      </p:sp>
      <p:sp>
        <p:nvSpPr>
          <p:cNvPr id="12" name="Rounded Rectangle 11"/>
          <p:cNvSpPr/>
          <p:nvPr/>
        </p:nvSpPr>
        <p:spPr>
          <a:xfrm>
            <a:off x="6263640" y="1737360"/>
            <a:ext cx="5074920" cy="3429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737360"/>
            <a:ext cx="68580" cy="342900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1883664"/>
            <a:ext cx="4709159" cy="365760"/>
          </a:xfrm>
          <a:prstGeom prst="rect">
            <a:avLst/>
          </a:prstGeom>
          <a:noFill/>
        </p:spPr>
        <p:txBody>
          <a:bodyPr wrap="square" lIns="0" tIns="0" rIns="0" bIns="0" anchor="t">
            <a:spAutoFit/>
          </a:bodyPr>
          <a:lstStyle/>
          <a:p>
            <a:pPr algn="l">
              <a:spcAft>
                <a:spcPts val="500"/>
              </a:spcAft>
            </a:pPr>
            <a:r>
              <a:rPr sz="1700" b="1" i="0">
                <a:solidFill>
                  <a:srgbClr val="152738"/>
                </a:solidFill>
                <a:latin typeface="Aptos"/>
              </a:rPr>
              <a:t>04 • RANGKUMAN</a:t>
            </a:r>
          </a:p>
        </p:txBody>
      </p:sp>
      <p:sp>
        <p:nvSpPr>
          <p:cNvPr id="15" name="TextBox 14"/>
          <p:cNvSpPr txBox="1"/>
          <p:nvPr/>
        </p:nvSpPr>
        <p:spPr>
          <a:xfrm>
            <a:off x="6464807" y="2331720"/>
            <a:ext cx="4690872" cy="2715768"/>
          </a:xfrm>
          <a:prstGeom prst="rect">
            <a:avLst/>
          </a:prstGeom>
          <a:noFill/>
        </p:spPr>
        <p:txBody>
          <a:bodyPr wrap="square" lIns="9144" tIns="9144" rIns="9144" bIns="9144" anchor="t">
            <a:spAutoFit/>
          </a:bodyPr>
          <a:lstStyle/>
          <a:p>
            <a:pPr algn="l">
              <a:spcAft>
                <a:spcPts val="500"/>
              </a:spcAft>
            </a:pPr>
            <a:r>
              <a:rPr sz="1400" b="0" i="0">
                <a:solidFill>
                  <a:srgbClr val="152738"/>
                </a:solidFill>
                <a:latin typeface="Aptos"/>
              </a:rPr>
              <a:t>Deskripsi dapat membantu menyajikan informasi yang lebih ringkas.</a:t>
            </a:r>
          </a:p>
          <a:p>
            <a:pPr algn="l">
              <a:spcAft>
                <a:spcPts val="500"/>
              </a:spcAft>
            </a:pPr>
            <a:endParaRPr sz="1400" b="0" i="0">
              <a:solidFill>
                <a:srgbClr val="152738"/>
              </a:solidFill>
              <a:latin typeface="Aptos"/>
            </a:endParaRPr>
          </a:p>
          <a:p>
            <a:pPr algn="l">
              <a:spcAft>
                <a:spcPts val="500"/>
              </a:spcAft>
            </a:pPr>
            <a:r>
              <a:rPr sz="1400" b="0" i="0">
                <a:solidFill>
                  <a:srgbClr val="152738"/>
                </a:solidFill>
                <a:latin typeface="Aptos"/>
              </a:rPr>
              <a:t>Informasi dari sumber panjang dapat diringkas tanpa menghilangkan inti pembahasannya.</a:t>
            </a:r>
          </a:p>
        </p:txBody>
      </p:sp>
      <p:sp>
        <p:nvSpPr>
          <p:cNvPr id="16" name="TextBox 15"/>
          <p:cNvSpPr txBox="1"/>
          <p:nvPr/>
        </p:nvSpPr>
        <p:spPr>
          <a:xfrm>
            <a:off x="914400" y="5532120"/>
            <a:ext cx="10241280" cy="320040"/>
          </a:xfrm>
          <a:prstGeom prst="rect">
            <a:avLst/>
          </a:prstGeom>
          <a:noFill/>
        </p:spPr>
        <p:txBody>
          <a:bodyPr wrap="square" lIns="0" tIns="0" rIns="0" bIns="0" anchor="t">
            <a:spAutoFit/>
          </a:bodyPr>
          <a:lstStyle/>
          <a:p>
            <a:pPr algn="ctr">
              <a:spcAft>
                <a:spcPts val="500"/>
              </a:spcAft>
            </a:pPr>
            <a:r>
              <a:rPr sz="1100" b="0" i="1">
                <a:solidFill>
                  <a:srgbClr val="5B6B74"/>
                </a:solidFill>
                <a:latin typeface="Aptos"/>
              </a:rPr>
              <a:t>Keempat kegunaan ini mengikuti pengelompokan dalam materi sumber.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C • CIRI-CIRI</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Ciri-ciri isi teks deskripsi</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10</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10</a:t>
            </a:r>
          </a:p>
        </p:txBody>
      </p:sp>
      <p:sp>
        <p:nvSpPr>
          <p:cNvPr id="8" name="Rounded Rectangle 7"/>
          <p:cNvSpPr/>
          <p:nvPr/>
        </p:nvSpPr>
        <p:spPr>
          <a:xfrm>
            <a:off x="914400" y="1627632"/>
            <a:ext cx="102870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15568" y="1792224"/>
            <a:ext cx="411480" cy="411480"/>
          </a:xfrm>
          <a:prstGeom prst="ellips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1911095"/>
            <a:ext cx="411480"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01</a:t>
            </a:r>
          </a:p>
        </p:txBody>
      </p:sp>
      <p:sp>
        <p:nvSpPr>
          <p:cNvPr id="11" name="TextBox 10"/>
          <p:cNvSpPr txBox="1"/>
          <p:nvPr/>
        </p:nvSpPr>
        <p:spPr>
          <a:xfrm>
            <a:off x="1783080" y="1888236"/>
            <a:ext cx="2743200" cy="256032"/>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Menggambarkan</a:t>
            </a:r>
            <a:r>
              <a:rPr sz="1400" b="1" i="0" dirty="0">
                <a:solidFill>
                  <a:srgbClr val="152738"/>
                </a:solidFill>
                <a:latin typeface="Aptos"/>
              </a:rPr>
              <a:t> </a:t>
            </a:r>
            <a:r>
              <a:rPr sz="1400" b="1" i="0" dirty="0" err="1">
                <a:solidFill>
                  <a:srgbClr val="152738"/>
                </a:solidFill>
                <a:latin typeface="Aptos"/>
              </a:rPr>
              <a:t>objek</a:t>
            </a:r>
            <a:endParaRPr sz="1400" b="1" i="0" dirty="0">
              <a:solidFill>
                <a:srgbClr val="152738"/>
              </a:solidFill>
              <a:latin typeface="Aptos"/>
            </a:endParaRPr>
          </a:p>
        </p:txBody>
      </p:sp>
      <p:sp>
        <p:nvSpPr>
          <p:cNvPr id="12" name="TextBox 11"/>
          <p:cNvSpPr txBox="1"/>
          <p:nvPr/>
        </p:nvSpPr>
        <p:spPr>
          <a:xfrm>
            <a:off x="4572000" y="1851660"/>
            <a:ext cx="6217920" cy="438912"/>
          </a:xfrm>
          <a:prstGeom prst="rect">
            <a:avLst/>
          </a:prstGeom>
          <a:noFill/>
        </p:spPr>
        <p:txBody>
          <a:bodyPr wrap="square" lIns="0" tIns="0" rIns="0" bIns="0" anchor="t">
            <a:spAutoFit/>
          </a:bodyPr>
          <a:lstStyle/>
          <a:p>
            <a:pPr algn="l">
              <a:spcAft>
                <a:spcPts val="500"/>
              </a:spcAft>
            </a:pPr>
            <a:r>
              <a:rPr sz="1200" b="0" i="0" dirty="0">
                <a:solidFill>
                  <a:srgbClr val="5B6B74"/>
                </a:solidFill>
                <a:latin typeface="Aptos"/>
              </a:rPr>
              <a:t>Teks </a:t>
            </a:r>
            <a:r>
              <a:rPr sz="1200" b="0" i="0" dirty="0" err="1">
                <a:solidFill>
                  <a:srgbClr val="5B6B74"/>
                </a:solidFill>
                <a:latin typeface="Aptos"/>
              </a:rPr>
              <a:t>berisi</a:t>
            </a:r>
            <a:r>
              <a:rPr sz="1200" b="0" i="0" dirty="0">
                <a:solidFill>
                  <a:srgbClr val="5B6B74"/>
                </a:solidFill>
                <a:latin typeface="Aptos"/>
              </a:rPr>
              <a:t> </a:t>
            </a:r>
            <a:r>
              <a:rPr sz="1200" b="0" i="0" dirty="0" err="1">
                <a:solidFill>
                  <a:srgbClr val="5B6B74"/>
                </a:solidFill>
                <a:latin typeface="Aptos"/>
              </a:rPr>
              <a:t>penggambaran</a:t>
            </a:r>
            <a:r>
              <a:rPr sz="1200" b="0" i="0" dirty="0">
                <a:solidFill>
                  <a:srgbClr val="5B6B74"/>
                </a:solidFill>
                <a:latin typeface="Aptos"/>
              </a:rPr>
              <a:t> </a:t>
            </a:r>
            <a:r>
              <a:rPr sz="1200" b="0" i="0" dirty="0" err="1">
                <a:solidFill>
                  <a:srgbClr val="5B6B74"/>
                </a:solidFill>
                <a:latin typeface="Aptos"/>
              </a:rPr>
              <a:t>atau</a:t>
            </a:r>
            <a:r>
              <a:rPr sz="1200" b="0" i="0" dirty="0">
                <a:solidFill>
                  <a:srgbClr val="5B6B74"/>
                </a:solidFill>
                <a:latin typeface="Aptos"/>
              </a:rPr>
              <a:t> </a:t>
            </a:r>
            <a:r>
              <a:rPr sz="1200" b="0" i="0" dirty="0" err="1">
                <a:solidFill>
                  <a:srgbClr val="5B6B74"/>
                </a:solidFill>
                <a:latin typeface="Aptos"/>
              </a:rPr>
              <a:t>penjelasan</a:t>
            </a:r>
            <a:r>
              <a:rPr sz="1200" b="0" i="0" dirty="0">
                <a:solidFill>
                  <a:srgbClr val="5B6B74"/>
                </a:solidFill>
                <a:latin typeface="Aptos"/>
              </a:rPr>
              <a:t> </a:t>
            </a:r>
            <a:r>
              <a:rPr sz="1200" b="0" i="0" dirty="0" err="1">
                <a:solidFill>
                  <a:srgbClr val="5B6B74"/>
                </a:solidFill>
                <a:latin typeface="Aptos"/>
              </a:rPr>
              <a:t>tentang</a:t>
            </a:r>
            <a:r>
              <a:rPr sz="1200" b="0" i="0" dirty="0">
                <a:solidFill>
                  <a:srgbClr val="5B6B74"/>
                </a:solidFill>
                <a:latin typeface="Aptos"/>
              </a:rPr>
              <a:t> </a:t>
            </a:r>
            <a:r>
              <a:rPr sz="1200" b="0" i="0" dirty="0" err="1">
                <a:solidFill>
                  <a:srgbClr val="5B6B74"/>
                </a:solidFill>
                <a:latin typeface="Aptos"/>
              </a:rPr>
              <a:t>objek</a:t>
            </a:r>
            <a:r>
              <a:rPr sz="1200" b="0" i="0" dirty="0">
                <a:solidFill>
                  <a:srgbClr val="5B6B74"/>
                </a:solidFill>
                <a:latin typeface="Aptos"/>
              </a:rPr>
              <a:t> </a:t>
            </a:r>
            <a:r>
              <a:rPr sz="1200" b="0" i="0" dirty="0" err="1">
                <a:solidFill>
                  <a:srgbClr val="5B6B74"/>
                </a:solidFill>
                <a:latin typeface="Aptos"/>
              </a:rPr>
              <a:t>tertentu</a:t>
            </a:r>
            <a:r>
              <a:rPr sz="1200" b="0" i="0" dirty="0">
                <a:solidFill>
                  <a:srgbClr val="5B6B74"/>
                </a:solidFill>
                <a:latin typeface="Aptos"/>
              </a:rPr>
              <a:t>.</a:t>
            </a:r>
          </a:p>
        </p:txBody>
      </p:sp>
      <p:sp>
        <p:nvSpPr>
          <p:cNvPr id="13" name="Rounded Rectangle 12"/>
          <p:cNvSpPr/>
          <p:nvPr/>
        </p:nvSpPr>
        <p:spPr>
          <a:xfrm>
            <a:off x="914400" y="2615184"/>
            <a:ext cx="102870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15568" y="2779776"/>
            <a:ext cx="411480" cy="411480"/>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15568" y="2898648"/>
            <a:ext cx="411480"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02</a:t>
            </a:r>
          </a:p>
        </p:txBody>
      </p:sp>
      <p:sp>
        <p:nvSpPr>
          <p:cNvPr id="16" name="TextBox 15"/>
          <p:cNvSpPr txBox="1"/>
          <p:nvPr/>
        </p:nvSpPr>
        <p:spPr>
          <a:xfrm>
            <a:off x="1783080" y="2875788"/>
            <a:ext cx="2743200" cy="256032"/>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Terperinci</a:t>
            </a:r>
            <a:endParaRPr sz="1400" b="1" i="0" dirty="0">
              <a:solidFill>
                <a:srgbClr val="152738"/>
              </a:solidFill>
              <a:latin typeface="Aptos"/>
            </a:endParaRPr>
          </a:p>
        </p:txBody>
      </p:sp>
      <p:sp>
        <p:nvSpPr>
          <p:cNvPr id="17" name="TextBox 16"/>
          <p:cNvSpPr txBox="1"/>
          <p:nvPr/>
        </p:nvSpPr>
        <p:spPr>
          <a:xfrm>
            <a:off x="4572000" y="2858453"/>
            <a:ext cx="6217920" cy="438912"/>
          </a:xfrm>
          <a:prstGeom prst="rect">
            <a:avLst/>
          </a:prstGeom>
          <a:noFill/>
        </p:spPr>
        <p:txBody>
          <a:bodyPr wrap="square" lIns="0" tIns="0" rIns="0" bIns="0" anchor="t">
            <a:spAutoFit/>
          </a:bodyPr>
          <a:lstStyle/>
          <a:p>
            <a:pPr algn="l">
              <a:spcAft>
                <a:spcPts val="500"/>
              </a:spcAft>
            </a:pPr>
            <a:r>
              <a:rPr sz="1200" b="0" i="0" dirty="0" err="1">
                <a:solidFill>
                  <a:srgbClr val="5B6B74"/>
                </a:solidFill>
                <a:latin typeface="Aptos"/>
              </a:rPr>
              <a:t>Objek</a:t>
            </a:r>
            <a:r>
              <a:rPr sz="1200" b="0" i="0" dirty="0">
                <a:solidFill>
                  <a:srgbClr val="5B6B74"/>
                </a:solidFill>
                <a:latin typeface="Aptos"/>
              </a:rPr>
              <a:t> </a:t>
            </a:r>
            <a:r>
              <a:rPr sz="1200" b="0" i="0" dirty="0" err="1">
                <a:solidFill>
                  <a:srgbClr val="5B6B74"/>
                </a:solidFill>
                <a:latin typeface="Aptos"/>
              </a:rPr>
              <a:t>tidak</a:t>
            </a:r>
            <a:r>
              <a:rPr sz="1200" b="0" i="0" dirty="0">
                <a:solidFill>
                  <a:srgbClr val="5B6B74"/>
                </a:solidFill>
                <a:latin typeface="Aptos"/>
              </a:rPr>
              <a:t> </a:t>
            </a:r>
            <a:r>
              <a:rPr sz="1200" b="0" i="0" dirty="0" err="1">
                <a:solidFill>
                  <a:srgbClr val="5B6B74"/>
                </a:solidFill>
                <a:latin typeface="Aptos"/>
              </a:rPr>
              <a:t>hanya</a:t>
            </a:r>
            <a:r>
              <a:rPr sz="1200" b="0" i="0" dirty="0">
                <a:solidFill>
                  <a:srgbClr val="5B6B74"/>
                </a:solidFill>
                <a:latin typeface="Aptos"/>
              </a:rPr>
              <a:t> </a:t>
            </a:r>
            <a:r>
              <a:rPr sz="1200" b="0" i="0" dirty="0" err="1">
                <a:solidFill>
                  <a:srgbClr val="5B6B74"/>
                </a:solidFill>
                <a:latin typeface="Aptos"/>
              </a:rPr>
              <a:t>disebutkan</a:t>
            </a:r>
            <a:r>
              <a:rPr sz="1200" b="0" i="0" dirty="0">
                <a:solidFill>
                  <a:srgbClr val="5B6B74"/>
                </a:solidFill>
                <a:latin typeface="Aptos"/>
              </a:rPr>
              <a:t>, </a:t>
            </a:r>
            <a:r>
              <a:rPr sz="1200" b="0" i="0" dirty="0" err="1">
                <a:solidFill>
                  <a:srgbClr val="5B6B74"/>
                </a:solidFill>
                <a:latin typeface="Aptos"/>
              </a:rPr>
              <a:t>tetapi</a:t>
            </a:r>
            <a:r>
              <a:rPr sz="1200" b="0" i="0" dirty="0">
                <a:solidFill>
                  <a:srgbClr val="5B6B74"/>
                </a:solidFill>
                <a:latin typeface="Aptos"/>
              </a:rPr>
              <a:t> </a:t>
            </a:r>
            <a:r>
              <a:rPr sz="1200" b="0" i="0" dirty="0" err="1">
                <a:solidFill>
                  <a:srgbClr val="5B6B74"/>
                </a:solidFill>
                <a:latin typeface="Aptos"/>
              </a:rPr>
              <a:t>dijelaskan</a:t>
            </a:r>
            <a:r>
              <a:rPr sz="1200" b="0" i="0" dirty="0">
                <a:solidFill>
                  <a:srgbClr val="5B6B74"/>
                </a:solidFill>
                <a:latin typeface="Aptos"/>
              </a:rPr>
              <a:t> </a:t>
            </a:r>
            <a:r>
              <a:rPr sz="1200" b="0" i="0" dirty="0" err="1">
                <a:solidFill>
                  <a:srgbClr val="5B6B74"/>
                </a:solidFill>
                <a:latin typeface="Aptos"/>
              </a:rPr>
              <a:t>bagian</a:t>
            </a:r>
            <a:r>
              <a:rPr sz="1200" b="0" i="0" dirty="0">
                <a:solidFill>
                  <a:srgbClr val="5B6B74"/>
                </a:solidFill>
                <a:latin typeface="Aptos"/>
              </a:rPr>
              <a:t> dan </a:t>
            </a:r>
            <a:r>
              <a:rPr sz="1200" b="0" i="0" dirty="0" err="1">
                <a:solidFill>
                  <a:srgbClr val="5B6B74"/>
                </a:solidFill>
                <a:latin typeface="Aptos"/>
              </a:rPr>
              <a:t>cirinya</a:t>
            </a:r>
            <a:r>
              <a:rPr sz="1200" b="0" i="0" dirty="0">
                <a:solidFill>
                  <a:srgbClr val="5B6B74"/>
                </a:solidFill>
                <a:latin typeface="Aptos"/>
              </a:rPr>
              <a:t>.</a:t>
            </a:r>
          </a:p>
        </p:txBody>
      </p:sp>
      <p:sp>
        <p:nvSpPr>
          <p:cNvPr id="18" name="Rounded Rectangle 17"/>
          <p:cNvSpPr/>
          <p:nvPr/>
        </p:nvSpPr>
        <p:spPr>
          <a:xfrm>
            <a:off x="914400" y="3602736"/>
            <a:ext cx="102870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15568" y="3767328"/>
            <a:ext cx="411480" cy="411480"/>
          </a:xfrm>
          <a:prstGeom prst="ellipse">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5568" y="3886200"/>
            <a:ext cx="411480"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03</a:t>
            </a:r>
          </a:p>
        </p:txBody>
      </p:sp>
      <p:sp>
        <p:nvSpPr>
          <p:cNvPr id="21" name="TextBox 20"/>
          <p:cNvSpPr txBox="1"/>
          <p:nvPr/>
        </p:nvSpPr>
        <p:spPr>
          <a:xfrm>
            <a:off x="1828800" y="3884295"/>
            <a:ext cx="2743200" cy="256032"/>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Menghadirkan</a:t>
            </a:r>
            <a:r>
              <a:rPr sz="1400" b="1" i="0" dirty="0">
                <a:solidFill>
                  <a:srgbClr val="152738"/>
                </a:solidFill>
                <a:latin typeface="Aptos"/>
              </a:rPr>
              <a:t> </a:t>
            </a:r>
            <a:r>
              <a:rPr sz="1400" b="1" i="0" dirty="0" err="1">
                <a:solidFill>
                  <a:srgbClr val="152738"/>
                </a:solidFill>
                <a:latin typeface="Aptos"/>
              </a:rPr>
              <a:t>pengalaman</a:t>
            </a:r>
            <a:endParaRPr sz="1400" b="1" i="0" dirty="0">
              <a:solidFill>
                <a:srgbClr val="152738"/>
              </a:solidFill>
              <a:latin typeface="Aptos"/>
            </a:endParaRPr>
          </a:p>
        </p:txBody>
      </p:sp>
      <p:sp>
        <p:nvSpPr>
          <p:cNvPr id="22" name="TextBox 21"/>
          <p:cNvSpPr txBox="1"/>
          <p:nvPr/>
        </p:nvSpPr>
        <p:spPr>
          <a:xfrm>
            <a:off x="4572000" y="3855339"/>
            <a:ext cx="6217920" cy="438912"/>
          </a:xfrm>
          <a:prstGeom prst="rect">
            <a:avLst/>
          </a:prstGeom>
          <a:noFill/>
        </p:spPr>
        <p:txBody>
          <a:bodyPr wrap="square" lIns="0" tIns="0" rIns="0" bIns="0" anchor="t">
            <a:spAutoFit/>
          </a:bodyPr>
          <a:lstStyle/>
          <a:p>
            <a:pPr algn="l">
              <a:spcAft>
                <a:spcPts val="500"/>
              </a:spcAft>
            </a:pPr>
            <a:r>
              <a:rPr sz="1200" b="0" i="0" dirty="0" err="1">
                <a:solidFill>
                  <a:srgbClr val="5B6B74"/>
                </a:solidFill>
                <a:latin typeface="Aptos"/>
              </a:rPr>
              <a:t>Pembaca</a:t>
            </a:r>
            <a:r>
              <a:rPr sz="1200" b="0" i="0" dirty="0">
                <a:solidFill>
                  <a:srgbClr val="5B6B74"/>
                </a:solidFill>
                <a:latin typeface="Aptos"/>
              </a:rPr>
              <a:t> </a:t>
            </a:r>
            <a:r>
              <a:rPr sz="1200" b="0" i="0" dirty="0" err="1">
                <a:solidFill>
                  <a:srgbClr val="5B6B74"/>
                </a:solidFill>
                <a:latin typeface="Aptos"/>
              </a:rPr>
              <a:t>seolah-olah</a:t>
            </a:r>
            <a:r>
              <a:rPr sz="1200" b="0" i="0" dirty="0">
                <a:solidFill>
                  <a:srgbClr val="5B6B74"/>
                </a:solidFill>
                <a:latin typeface="Aptos"/>
              </a:rPr>
              <a:t> </a:t>
            </a:r>
            <a:r>
              <a:rPr sz="1200" b="0" i="0" dirty="0" err="1">
                <a:solidFill>
                  <a:srgbClr val="5B6B74"/>
                </a:solidFill>
                <a:latin typeface="Aptos"/>
              </a:rPr>
              <a:t>melihat</a:t>
            </a:r>
            <a:r>
              <a:rPr sz="1200" b="0" i="0" dirty="0">
                <a:solidFill>
                  <a:srgbClr val="5B6B74"/>
                </a:solidFill>
                <a:latin typeface="Aptos"/>
              </a:rPr>
              <a:t> </a:t>
            </a:r>
            <a:r>
              <a:rPr sz="1200" b="0" i="0" dirty="0" err="1">
                <a:solidFill>
                  <a:srgbClr val="5B6B74"/>
                </a:solidFill>
                <a:latin typeface="Aptos"/>
              </a:rPr>
              <a:t>atau</a:t>
            </a:r>
            <a:r>
              <a:rPr sz="1200" b="0" i="0" dirty="0">
                <a:solidFill>
                  <a:srgbClr val="5B6B74"/>
                </a:solidFill>
                <a:latin typeface="Aptos"/>
              </a:rPr>
              <a:t> </a:t>
            </a:r>
            <a:r>
              <a:rPr sz="1200" b="0" i="0" dirty="0" err="1">
                <a:solidFill>
                  <a:srgbClr val="5B6B74"/>
                </a:solidFill>
                <a:latin typeface="Aptos"/>
              </a:rPr>
              <a:t>mengalami</a:t>
            </a:r>
            <a:r>
              <a:rPr sz="1200" b="0" i="0" dirty="0">
                <a:solidFill>
                  <a:srgbClr val="5B6B74"/>
                </a:solidFill>
                <a:latin typeface="Aptos"/>
              </a:rPr>
              <a:t> </a:t>
            </a:r>
            <a:r>
              <a:rPr sz="1200" b="0" i="0" dirty="0" err="1">
                <a:solidFill>
                  <a:srgbClr val="5B6B74"/>
                </a:solidFill>
                <a:latin typeface="Aptos"/>
              </a:rPr>
              <a:t>objek</a:t>
            </a:r>
            <a:r>
              <a:rPr sz="1200" b="0" i="0" dirty="0">
                <a:solidFill>
                  <a:srgbClr val="5B6B74"/>
                </a:solidFill>
                <a:latin typeface="Aptos"/>
              </a:rPr>
              <a:t> yang </a:t>
            </a:r>
            <a:r>
              <a:rPr sz="1200" b="0" i="0" dirty="0" err="1">
                <a:solidFill>
                  <a:srgbClr val="5B6B74"/>
                </a:solidFill>
                <a:latin typeface="Aptos"/>
              </a:rPr>
              <a:t>dibicarakan</a:t>
            </a:r>
            <a:r>
              <a:rPr sz="1200" b="0" i="0" dirty="0">
                <a:solidFill>
                  <a:srgbClr val="5B6B74"/>
                </a:solidFill>
                <a:latin typeface="Aptos"/>
              </a:rPr>
              <a:t>.</a:t>
            </a:r>
          </a:p>
        </p:txBody>
      </p:sp>
      <p:sp>
        <p:nvSpPr>
          <p:cNvPr id="23" name="Rounded Rectangle 22"/>
          <p:cNvSpPr/>
          <p:nvPr/>
        </p:nvSpPr>
        <p:spPr>
          <a:xfrm>
            <a:off x="914400" y="4590288"/>
            <a:ext cx="1028700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15568" y="4754880"/>
            <a:ext cx="411480" cy="411480"/>
          </a:xfrm>
          <a:prstGeom prst="ellips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15568" y="4873752"/>
            <a:ext cx="411480"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04</a:t>
            </a:r>
          </a:p>
        </p:txBody>
      </p:sp>
      <p:sp>
        <p:nvSpPr>
          <p:cNvPr id="26" name="TextBox 25"/>
          <p:cNvSpPr txBox="1"/>
          <p:nvPr/>
        </p:nvSpPr>
        <p:spPr>
          <a:xfrm>
            <a:off x="1828800" y="4832604"/>
            <a:ext cx="2743200" cy="256032"/>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Menunjukkan</a:t>
            </a:r>
            <a:r>
              <a:rPr sz="1400" b="1" i="0" dirty="0">
                <a:solidFill>
                  <a:srgbClr val="152738"/>
                </a:solidFill>
                <a:latin typeface="Aptos"/>
              </a:rPr>
              <a:t> </a:t>
            </a:r>
            <a:r>
              <a:rPr sz="1400" b="1" i="0" dirty="0" err="1">
                <a:solidFill>
                  <a:srgbClr val="152738"/>
                </a:solidFill>
                <a:latin typeface="Aptos"/>
              </a:rPr>
              <a:t>karakteristik</a:t>
            </a:r>
            <a:endParaRPr sz="1400" b="1" i="0" dirty="0">
              <a:solidFill>
                <a:srgbClr val="152738"/>
              </a:solidFill>
              <a:latin typeface="Aptos"/>
            </a:endParaRPr>
          </a:p>
        </p:txBody>
      </p:sp>
      <p:sp>
        <p:nvSpPr>
          <p:cNvPr id="27" name="TextBox 26"/>
          <p:cNvSpPr txBox="1"/>
          <p:nvPr/>
        </p:nvSpPr>
        <p:spPr>
          <a:xfrm>
            <a:off x="4572000" y="4796790"/>
            <a:ext cx="6217920" cy="438912"/>
          </a:xfrm>
          <a:prstGeom prst="rect">
            <a:avLst/>
          </a:prstGeom>
          <a:noFill/>
        </p:spPr>
        <p:txBody>
          <a:bodyPr wrap="square" lIns="0" tIns="0" rIns="0" bIns="0" anchor="t">
            <a:spAutoFit/>
          </a:bodyPr>
          <a:lstStyle/>
          <a:p>
            <a:pPr algn="l">
              <a:spcAft>
                <a:spcPts val="500"/>
              </a:spcAft>
            </a:pPr>
            <a:r>
              <a:rPr sz="1200" b="0" i="0" dirty="0" err="1">
                <a:solidFill>
                  <a:srgbClr val="5B6B74"/>
                </a:solidFill>
                <a:latin typeface="Aptos"/>
              </a:rPr>
              <a:t>Memuat</a:t>
            </a:r>
            <a:r>
              <a:rPr sz="1200" b="0" i="0" dirty="0">
                <a:solidFill>
                  <a:srgbClr val="5B6B74"/>
                </a:solidFill>
                <a:latin typeface="Aptos"/>
              </a:rPr>
              <a:t> </a:t>
            </a:r>
            <a:r>
              <a:rPr sz="1200" b="0" i="0" dirty="0" err="1">
                <a:solidFill>
                  <a:srgbClr val="5B6B74"/>
                </a:solidFill>
                <a:latin typeface="Aptos"/>
              </a:rPr>
              <a:t>warna</a:t>
            </a:r>
            <a:r>
              <a:rPr sz="1200" b="0" i="0" dirty="0">
                <a:solidFill>
                  <a:srgbClr val="5B6B74"/>
                </a:solidFill>
                <a:latin typeface="Aptos"/>
              </a:rPr>
              <a:t>, </a:t>
            </a:r>
            <a:r>
              <a:rPr sz="1200" b="0" i="0" dirty="0" err="1">
                <a:solidFill>
                  <a:srgbClr val="5B6B74"/>
                </a:solidFill>
                <a:latin typeface="Aptos"/>
              </a:rPr>
              <a:t>bentuk</a:t>
            </a:r>
            <a:r>
              <a:rPr sz="1200" b="0" i="0" dirty="0">
                <a:solidFill>
                  <a:srgbClr val="5B6B74"/>
                </a:solidFill>
                <a:latin typeface="Aptos"/>
              </a:rPr>
              <a:t>, </a:t>
            </a:r>
            <a:r>
              <a:rPr sz="1200" b="0" i="0" dirty="0" err="1">
                <a:solidFill>
                  <a:srgbClr val="5B6B74"/>
                </a:solidFill>
                <a:latin typeface="Aptos"/>
              </a:rPr>
              <a:t>ukuran</a:t>
            </a:r>
            <a:r>
              <a:rPr sz="1200" b="0" i="0" dirty="0">
                <a:solidFill>
                  <a:srgbClr val="5B6B74"/>
                </a:solidFill>
                <a:latin typeface="Aptos"/>
              </a:rPr>
              <a:t>, dan </a:t>
            </a:r>
            <a:r>
              <a:rPr sz="1200" b="0" i="0" dirty="0" err="1">
                <a:solidFill>
                  <a:srgbClr val="5B6B74"/>
                </a:solidFill>
                <a:latin typeface="Aptos"/>
              </a:rPr>
              <a:t>ciri-ciri</a:t>
            </a:r>
            <a:r>
              <a:rPr sz="1200" b="0" i="0" dirty="0">
                <a:solidFill>
                  <a:srgbClr val="5B6B74"/>
                </a:solidFill>
                <a:latin typeface="Aptos"/>
              </a:rPr>
              <a:t> </a:t>
            </a:r>
            <a:r>
              <a:rPr sz="1200" b="0" i="0" dirty="0" err="1">
                <a:solidFill>
                  <a:srgbClr val="5B6B74"/>
                </a:solidFill>
                <a:latin typeface="Aptos"/>
              </a:rPr>
              <a:t>objek</a:t>
            </a:r>
            <a:r>
              <a:rPr sz="1200" b="0" i="0" dirty="0">
                <a:solidFill>
                  <a:srgbClr val="5B6B74"/>
                </a:solidFill>
                <a:latin typeface="Aptos"/>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C • CIRI-CIRI</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Ciri kebahasaan teks deskripsi</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11</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11</a:t>
            </a:r>
          </a:p>
        </p:txBody>
      </p:sp>
      <p:sp>
        <p:nvSpPr>
          <p:cNvPr id="8" name="Rounded Rectangle 7"/>
          <p:cNvSpPr/>
          <p:nvPr/>
        </p:nvSpPr>
        <p:spPr>
          <a:xfrm>
            <a:off x="822960" y="1691640"/>
            <a:ext cx="507492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691640"/>
            <a:ext cx="68580" cy="150876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837944"/>
            <a:ext cx="4709159" cy="365760"/>
          </a:xfrm>
          <a:prstGeom prst="rect">
            <a:avLst/>
          </a:prstGeom>
          <a:noFill/>
        </p:spPr>
        <p:txBody>
          <a:bodyPr wrap="square" lIns="0" tIns="0" rIns="0" bIns="0" anchor="t">
            <a:spAutoFit/>
          </a:bodyPr>
          <a:lstStyle/>
          <a:p>
            <a:pPr algn="l">
              <a:spcAft>
                <a:spcPts val="500"/>
              </a:spcAft>
            </a:pPr>
            <a:r>
              <a:rPr sz="1600" b="1" i="0">
                <a:solidFill>
                  <a:srgbClr val="152738"/>
                </a:solidFill>
                <a:latin typeface="Aptos"/>
              </a:rPr>
              <a:t>Kata baku</a:t>
            </a:r>
          </a:p>
        </p:txBody>
      </p:sp>
      <p:sp>
        <p:nvSpPr>
          <p:cNvPr id="11" name="TextBox 10"/>
          <p:cNvSpPr txBox="1"/>
          <p:nvPr/>
        </p:nvSpPr>
        <p:spPr>
          <a:xfrm>
            <a:off x="1024128" y="2286000"/>
            <a:ext cx="4690872" cy="795527"/>
          </a:xfrm>
          <a:prstGeom prst="rect">
            <a:avLst/>
          </a:prstGeom>
          <a:noFill/>
        </p:spPr>
        <p:txBody>
          <a:bodyPr wrap="square" lIns="9144" tIns="9144" rIns="9144" bIns="9144" anchor="t">
            <a:spAutoFit/>
          </a:bodyPr>
          <a:lstStyle/>
          <a:p>
            <a:pPr algn="l">
              <a:spcAft>
                <a:spcPts val="500"/>
              </a:spcAft>
            </a:pPr>
            <a:r>
              <a:rPr sz="1300" b="0" i="0">
                <a:solidFill>
                  <a:srgbClr val="152738"/>
                </a:solidFill>
                <a:latin typeface="Aptos"/>
              </a:rPr>
              <a:t>Menggunakan bentuk kata sesuai kaidah bahasa Indonesia.</a:t>
            </a:r>
          </a:p>
        </p:txBody>
      </p:sp>
      <p:sp>
        <p:nvSpPr>
          <p:cNvPr id="12" name="Rounded Rectangle 11"/>
          <p:cNvSpPr/>
          <p:nvPr/>
        </p:nvSpPr>
        <p:spPr>
          <a:xfrm>
            <a:off x="6309360" y="1691640"/>
            <a:ext cx="507492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1691640"/>
            <a:ext cx="68580" cy="1508760"/>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0528" y="1837944"/>
            <a:ext cx="4709159" cy="365760"/>
          </a:xfrm>
          <a:prstGeom prst="rect">
            <a:avLst/>
          </a:prstGeom>
          <a:noFill/>
        </p:spPr>
        <p:txBody>
          <a:bodyPr wrap="square" lIns="0" tIns="0" rIns="0" bIns="0" anchor="t">
            <a:spAutoFit/>
          </a:bodyPr>
          <a:lstStyle/>
          <a:p>
            <a:pPr algn="l">
              <a:spcAft>
                <a:spcPts val="500"/>
              </a:spcAft>
            </a:pPr>
            <a:r>
              <a:rPr sz="1600" b="1" i="0">
                <a:solidFill>
                  <a:srgbClr val="152738"/>
                </a:solidFill>
                <a:latin typeface="Aptos"/>
              </a:rPr>
              <a:t>Konjungsi</a:t>
            </a:r>
          </a:p>
        </p:txBody>
      </p:sp>
      <p:sp>
        <p:nvSpPr>
          <p:cNvPr id="15" name="TextBox 14"/>
          <p:cNvSpPr txBox="1"/>
          <p:nvPr/>
        </p:nvSpPr>
        <p:spPr>
          <a:xfrm>
            <a:off x="6510528" y="2286000"/>
            <a:ext cx="4690872" cy="795527"/>
          </a:xfrm>
          <a:prstGeom prst="rect">
            <a:avLst/>
          </a:prstGeom>
          <a:noFill/>
        </p:spPr>
        <p:txBody>
          <a:bodyPr wrap="square" lIns="9144" tIns="9144" rIns="9144" bIns="9144" anchor="t">
            <a:spAutoFit/>
          </a:bodyPr>
          <a:lstStyle/>
          <a:p>
            <a:pPr algn="l">
              <a:spcAft>
                <a:spcPts val="500"/>
              </a:spcAft>
            </a:pPr>
            <a:r>
              <a:rPr sz="1300" b="0" i="0">
                <a:solidFill>
                  <a:srgbClr val="152738"/>
                </a:solidFill>
                <a:latin typeface="Aptos"/>
              </a:rPr>
              <a:t>Menghubungkan kata atau gagasan, misalnya dan, atau, tetapi, sehingga.</a:t>
            </a:r>
          </a:p>
        </p:txBody>
      </p:sp>
      <p:sp>
        <p:nvSpPr>
          <p:cNvPr id="16" name="Rounded Rectangle 15"/>
          <p:cNvSpPr/>
          <p:nvPr/>
        </p:nvSpPr>
        <p:spPr>
          <a:xfrm>
            <a:off x="822960" y="3520440"/>
            <a:ext cx="507492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2960" y="3520440"/>
            <a:ext cx="68580" cy="1508760"/>
          </a:xfrm>
          <a:prstGeom prst="rect">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3666744"/>
            <a:ext cx="4709159" cy="365760"/>
          </a:xfrm>
          <a:prstGeom prst="rect">
            <a:avLst/>
          </a:prstGeom>
          <a:noFill/>
        </p:spPr>
        <p:txBody>
          <a:bodyPr wrap="square" lIns="0" tIns="0" rIns="0" bIns="0" anchor="t">
            <a:spAutoFit/>
          </a:bodyPr>
          <a:lstStyle/>
          <a:p>
            <a:pPr algn="l">
              <a:spcAft>
                <a:spcPts val="500"/>
              </a:spcAft>
            </a:pPr>
            <a:r>
              <a:rPr sz="1600" b="1" i="0">
                <a:solidFill>
                  <a:srgbClr val="152738"/>
                </a:solidFill>
                <a:latin typeface="Aptos"/>
              </a:rPr>
              <a:t>Kata berimbuhan</a:t>
            </a:r>
          </a:p>
        </p:txBody>
      </p:sp>
      <p:sp>
        <p:nvSpPr>
          <p:cNvPr id="19" name="TextBox 18"/>
          <p:cNvSpPr txBox="1"/>
          <p:nvPr/>
        </p:nvSpPr>
        <p:spPr>
          <a:xfrm>
            <a:off x="1024128" y="4114800"/>
            <a:ext cx="4690872" cy="795527"/>
          </a:xfrm>
          <a:prstGeom prst="rect">
            <a:avLst/>
          </a:prstGeom>
          <a:noFill/>
        </p:spPr>
        <p:txBody>
          <a:bodyPr wrap="square" lIns="9144" tIns="9144" rIns="9144" bIns="9144" anchor="t">
            <a:spAutoFit/>
          </a:bodyPr>
          <a:lstStyle/>
          <a:p>
            <a:pPr algn="l">
              <a:spcAft>
                <a:spcPts val="500"/>
              </a:spcAft>
            </a:pPr>
            <a:r>
              <a:rPr sz="1300" b="0" i="0">
                <a:solidFill>
                  <a:srgbClr val="152738"/>
                </a:solidFill>
                <a:latin typeface="Aptos"/>
              </a:rPr>
              <a:t>Menggunakan imbuhan, misalnya ber- dan meN-.</a:t>
            </a:r>
          </a:p>
        </p:txBody>
      </p:sp>
      <p:sp>
        <p:nvSpPr>
          <p:cNvPr id="20" name="Rounded Rectangle 19"/>
          <p:cNvSpPr/>
          <p:nvPr/>
        </p:nvSpPr>
        <p:spPr>
          <a:xfrm>
            <a:off x="6309360" y="3520440"/>
            <a:ext cx="5074920" cy="1508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09360" y="3520440"/>
            <a:ext cx="68580" cy="150876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0528" y="3666744"/>
            <a:ext cx="4709159" cy="365760"/>
          </a:xfrm>
          <a:prstGeom prst="rect">
            <a:avLst/>
          </a:prstGeom>
          <a:noFill/>
        </p:spPr>
        <p:txBody>
          <a:bodyPr wrap="square" lIns="0" tIns="0" rIns="0" bIns="0" anchor="t">
            <a:spAutoFit/>
          </a:bodyPr>
          <a:lstStyle/>
          <a:p>
            <a:pPr algn="l">
              <a:spcAft>
                <a:spcPts val="500"/>
              </a:spcAft>
            </a:pPr>
            <a:r>
              <a:rPr sz="1600" b="1" i="0">
                <a:solidFill>
                  <a:srgbClr val="152738"/>
                </a:solidFill>
                <a:latin typeface="Aptos"/>
              </a:rPr>
              <a:t>Kata rujukan</a:t>
            </a:r>
          </a:p>
        </p:txBody>
      </p:sp>
      <p:sp>
        <p:nvSpPr>
          <p:cNvPr id="23" name="TextBox 22"/>
          <p:cNvSpPr txBox="1"/>
          <p:nvPr/>
        </p:nvSpPr>
        <p:spPr>
          <a:xfrm>
            <a:off x="6510528" y="4114800"/>
            <a:ext cx="4690872" cy="795527"/>
          </a:xfrm>
          <a:prstGeom prst="rect">
            <a:avLst/>
          </a:prstGeom>
          <a:noFill/>
        </p:spPr>
        <p:txBody>
          <a:bodyPr wrap="square" lIns="9144" tIns="9144" rIns="9144" bIns="9144" anchor="t">
            <a:spAutoFit/>
          </a:bodyPr>
          <a:lstStyle/>
          <a:p>
            <a:pPr algn="l">
              <a:spcAft>
                <a:spcPts val="500"/>
              </a:spcAft>
            </a:pPr>
            <a:r>
              <a:rPr sz="1300" b="0" i="0">
                <a:solidFill>
                  <a:srgbClr val="152738"/>
                </a:solidFill>
                <a:latin typeface="Aptos"/>
              </a:rPr>
              <a:t>Merujuk sesuatu, misalnya ini, itu, di sini, di sana, dan tersebut.</a:t>
            </a:r>
          </a:p>
        </p:txBody>
      </p:sp>
      <p:sp>
        <p:nvSpPr>
          <p:cNvPr id="24" name="TextBox 23"/>
          <p:cNvSpPr txBox="1"/>
          <p:nvPr/>
        </p:nvSpPr>
        <p:spPr>
          <a:xfrm>
            <a:off x="914400" y="5577840"/>
            <a:ext cx="10241280" cy="365760"/>
          </a:xfrm>
          <a:prstGeom prst="rect">
            <a:avLst/>
          </a:prstGeom>
          <a:noFill/>
        </p:spPr>
        <p:txBody>
          <a:bodyPr wrap="square" lIns="0" tIns="0" rIns="0" bIns="0" anchor="t">
            <a:spAutoFit/>
          </a:bodyPr>
          <a:lstStyle/>
          <a:p>
            <a:pPr algn="ctr">
              <a:spcAft>
                <a:spcPts val="500"/>
              </a:spcAft>
            </a:pPr>
            <a:r>
              <a:rPr sz="1400" b="1" i="0">
                <a:solidFill>
                  <a:srgbClr val="287971"/>
                </a:solidFill>
                <a:latin typeface="Aptos"/>
              </a:rPr>
              <a:t>Saat menyunting, periksa pilihan kata, imbuhan, konjungsi, dan kata rujukan agar teks jelas dan padu.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D • JENIS-JENIS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1. Teks deskripsi spasial</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12</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12</a:t>
            </a:r>
          </a:p>
        </p:txBody>
      </p:sp>
      <p:sp>
        <p:nvSpPr>
          <p:cNvPr id="8" name="TextBox 7"/>
          <p:cNvSpPr txBox="1"/>
          <p:nvPr/>
        </p:nvSpPr>
        <p:spPr>
          <a:xfrm>
            <a:off x="868680" y="1645920"/>
            <a:ext cx="10332720" cy="1005840"/>
          </a:xfrm>
          <a:prstGeom prst="rect">
            <a:avLst/>
          </a:prstGeom>
          <a:noFill/>
        </p:spPr>
        <p:txBody>
          <a:bodyPr wrap="square" lIns="18288" tIns="18288" rIns="18288" bIns="18288" anchor="t">
            <a:spAutoFit/>
          </a:bodyPr>
          <a:lstStyle/>
          <a:p>
            <a:pPr algn="l">
              <a:spcAft>
                <a:spcPts val="500"/>
              </a:spcAft>
            </a:pPr>
            <a:r>
              <a:rPr sz="1800" b="1" i="0">
                <a:solidFill>
                  <a:srgbClr val="152738"/>
                </a:solidFill>
                <a:latin typeface="Aptos"/>
              </a:rPr>
              <a:t>Deskripsi spasial menggambarkan ruang atau tempat berlangsungnya suatu peristiwa. Penulis dapat menjelaskan tempat dari berbagai sisi atau arah: luar, dalam, atas, maupun bawah.</a:t>
            </a:r>
          </a:p>
        </p:txBody>
      </p:sp>
      <p:sp>
        <p:nvSpPr>
          <p:cNvPr id="9" name="Rounded Rectangle 8"/>
          <p:cNvSpPr/>
          <p:nvPr/>
        </p:nvSpPr>
        <p:spPr>
          <a:xfrm>
            <a:off x="868680" y="2971800"/>
            <a:ext cx="493776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2971800"/>
            <a:ext cx="68580" cy="214884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9848" y="3118104"/>
            <a:ext cx="457200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DETAIL YANG DAPAT DIGUNAKAN</a:t>
            </a:r>
          </a:p>
        </p:txBody>
      </p:sp>
      <p:sp>
        <p:nvSpPr>
          <p:cNvPr id="12" name="TextBox 11"/>
          <p:cNvSpPr txBox="1"/>
          <p:nvPr/>
        </p:nvSpPr>
        <p:spPr>
          <a:xfrm>
            <a:off x="1069848" y="3566160"/>
            <a:ext cx="4553712" cy="1435608"/>
          </a:xfrm>
          <a:prstGeom prst="rect">
            <a:avLst/>
          </a:prstGeom>
          <a:noFill/>
        </p:spPr>
        <p:txBody>
          <a:bodyPr wrap="square" lIns="9144" tIns="9144" rIns="9144" bIns="9144" anchor="t">
            <a:spAutoFit/>
          </a:bodyPr>
          <a:lstStyle/>
          <a:p>
            <a:pPr algn="l">
              <a:spcAft>
                <a:spcPts val="500"/>
              </a:spcAft>
            </a:pPr>
            <a:r>
              <a:rPr sz="1400" b="0" i="0">
                <a:solidFill>
                  <a:srgbClr val="152738"/>
                </a:solidFill>
                <a:latin typeface="Aptos"/>
              </a:rPr>
              <a:t>Ukuran ruang • tinggi dinding • posisi benda • pintu • balkon • keadaan ruangan</a:t>
            </a:r>
          </a:p>
        </p:txBody>
      </p:sp>
      <p:sp>
        <p:nvSpPr>
          <p:cNvPr id="13" name="Rounded Rectangle 12"/>
          <p:cNvSpPr/>
          <p:nvPr/>
        </p:nvSpPr>
        <p:spPr>
          <a:xfrm>
            <a:off x="6172200" y="2971800"/>
            <a:ext cx="493776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2971800"/>
            <a:ext cx="68580" cy="2148840"/>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73368" y="3118104"/>
            <a:ext cx="4572000"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KATA UNTUK MENJELASKAN KEADAAN</a:t>
            </a:r>
          </a:p>
        </p:txBody>
      </p:sp>
      <p:sp>
        <p:nvSpPr>
          <p:cNvPr id="16" name="TextBox 15"/>
          <p:cNvSpPr txBox="1"/>
          <p:nvPr/>
        </p:nvSpPr>
        <p:spPr>
          <a:xfrm>
            <a:off x="6373368" y="3566160"/>
            <a:ext cx="4553712" cy="1435608"/>
          </a:xfrm>
          <a:prstGeom prst="rect">
            <a:avLst/>
          </a:prstGeom>
          <a:noFill/>
        </p:spPr>
        <p:txBody>
          <a:bodyPr wrap="square" lIns="9144" tIns="9144" rIns="9144" bIns="9144" anchor="t">
            <a:spAutoFit/>
          </a:bodyPr>
          <a:lstStyle/>
          <a:p>
            <a:pPr algn="l">
              <a:spcAft>
                <a:spcPts val="500"/>
              </a:spcAft>
            </a:pPr>
            <a:r>
              <a:rPr sz="1400" b="0" i="0">
                <a:solidFill>
                  <a:srgbClr val="152738"/>
                </a:solidFill>
                <a:latin typeface="Aptos"/>
              </a:rPr>
              <a:t>Terang atau gelap • bersih atau kotor • rapi atau berdebu • luas atau sempit • pengap atau nyaman</a:t>
            </a:r>
          </a:p>
        </p:txBody>
      </p:sp>
      <p:sp>
        <p:nvSpPr>
          <p:cNvPr id="17" name="TextBox 16"/>
          <p:cNvSpPr txBox="1"/>
          <p:nvPr/>
        </p:nvSpPr>
        <p:spPr>
          <a:xfrm>
            <a:off x="914400" y="5440680"/>
            <a:ext cx="10241280" cy="411480"/>
          </a:xfrm>
          <a:prstGeom prst="rect">
            <a:avLst/>
          </a:prstGeom>
          <a:noFill/>
        </p:spPr>
        <p:txBody>
          <a:bodyPr wrap="square" lIns="0" tIns="0" rIns="0" bIns="0" anchor="t">
            <a:spAutoFit/>
          </a:bodyPr>
          <a:lstStyle/>
          <a:p>
            <a:pPr algn="ctr">
              <a:spcAft>
                <a:spcPts val="500"/>
              </a:spcAft>
            </a:pPr>
            <a:r>
              <a:rPr sz="1300" b="0" i="1">
                <a:solidFill>
                  <a:srgbClr val="5B6B74"/>
                </a:solidFill>
                <a:latin typeface="Aptos"/>
              </a:rPr>
              <a:t>Contoh dari materi: kamar yang luas dengan tempat tidur, balkon, peralatan memasak, dan pintu menuju kamar mandi.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D • JENIS-JENIS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2. Teks deskripsi objektif</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13</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13</a:t>
            </a:r>
          </a:p>
        </p:txBody>
      </p:sp>
      <p:sp>
        <p:nvSpPr>
          <p:cNvPr id="8" name="TextBox 7"/>
          <p:cNvSpPr txBox="1"/>
          <p:nvPr/>
        </p:nvSpPr>
        <p:spPr>
          <a:xfrm>
            <a:off x="868680" y="1645920"/>
            <a:ext cx="10332720" cy="1051560"/>
          </a:xfrm>
          <a:prstGeom prst="rect">
            <a:avLst/>
          </a:prstGeom>
          <a:noFill/>
        </p:spPr>
        <p:txBody>
          <a:bodyPr wrap="square" lIns="18288" tIns="18288" rIns="18288" bIns="18288" anchor="t">
            <a:spAutoFit/>
          </a:bodyPr>
          <a:lstStyle/>
          <a:p>
            <a:pPr algn="l">
              <a:spcAft>
                <a:spcPts val="500"/>
              </a:spcAft>
            </a:pPr>
            <a:r>
              <a:rPr sz="1800" b="1" i="0">
                <a:solidFill>
                  <a:srgbClr val="152738"/>
                </a:solidFill>
                <a:latin typeface="Aptos"/>
              </a:rPr>
              <a:t>Deskripsi objektif menggambarkan objek atau seseorang berdasarkan keadaan sebenarnya. Penulis berusaha menyampaikan gambaran apa adanya tanpa terlalu memasukkan kesan pribadi.</a:t>
            </a:r>
          </a:p>
        </p:txBody>
      </p:sp>
      <p:sp>
        <p:nvSpPr>
          <p:cNvPr id="9" name="Rounded Rectangle 8"/>
          <p:cNvSpPr/>
          <p:nvPr/>
        </p:nvSpPr>
        <p:spPr>
          <a:xfrm>
            <a:off x="960120" y="2971800"/>
            <a:ext cx="1014984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3246120"/>
            <a:ext cx="2743200" cy="274320"/>
          </a:xfrm>
          <a:prstGeom prst="rect">
            <a:avLst/>
          </a:prstGeom>
          <a:noFill/>
        </p:spPr>
        <p:txBody>
          <a:bodyPr wrap="square" lIns="0" tIns="0" rIns="0" bIns="0" anchor="t">
            <a:spAutoFit/>
          </a:bodyPr>
          <a:lstStyle/>
          <a:p>
            <a:pPr algn="l">
              <a:spcAft>
                <a:spcPts val="500"/>
              </a:spcAft>
            </a:pPr>
            <a:r>
              <a:rPr sz="1200" b="1" i="0">
                <a:solidFill>
                  <a:srgbClr val="287971"/>
                </a:solidFill>
                <a:latin typeface="Aptos"/>
              </a:rPr>
              <a:t>CONTOH DALAM MATERI</a:t>
            </a:r>
          </a:p>
        </p:txBody>
      </p:sp>
      <p:sp>
        <p:nvSpPr>
          <p:cNvPr id="11" name="TextBox 10"/>
          <p:cNvSpPr txBox="1"/>
          <p:nvPr/>
        </p:nvSpPr>
        <p:spPr>
          <a:xfrm>
            <a:off x="1280160" y="3657600"/>
            <a:ext cx="9372600" cy="960120"/>
          </a:xfrm>
          <a:prstGeom prst="rect">
            <a:avLst/>
          </a:prstGeom>
          <a:noFill/>
        </p:spPr>
        <p:txBody>
          <a:bodyPr wrap="square" lIns="18288" tIns="18288" rIns="18288" bIns="18288" anchor="t">
            <a:spAutoFit/>
          </a:bodyPr>
          <a:lstStyle/>
          <a:p>
            <a:pPr algn="l">
              <a:spcAft>
                <a:spcPts val="500"/>
              </a:spcAft>
            </a:pPr>
            <a:r>
              <a:rPr sz="1500" b="0" i="1">
                <a:solidFill>
                  <a:srgbClr val="152738"/>
                </a:solidFill>
                <a:latin typeface="Aptos"/>
              </a:rPr>
              <a:t>“Buah kersen merupakan buah kecil berbentuk bulat. Ketika masih muda, warnanya hijau, kemudian berubah menjadi kekuningan dan akhirnya merah ketika matang. Ukurannya relatif kecil dengan tekstur lembut dan rasa manis.”</a:t>
            </a:r>
          </a:p>
        </p:txBody>
      </p:sp>
      <p:sp>
        <p:nvSpPr>
          <p:cNvPr id="12" name="TextBox 11"/>
          <p:cNvSpPr txBox="1"/>
          <p:nvPr/>
        </p:nvSpPr>
        <p:spPr>
          <a:xfrm>
            <a:off x="914400" y="5440680"/>
            <a:ext cx="10241280" cy="411480"/>
          </a:xfrm>
          <a:prstGeom prst="rect">
            <a:avLst/>
          </a:prstGeom>
          <a:noFill/>
        </p:spPr>
        <p:txBody>
          <a:bodyPr wrap="square" lIns="0" tIns="0" rIns="0" bIns="0" anchor="t">
            <a:spAutoFit/>
          </a:bodyPr>
          <a:lstStyle/>
          <a:p>
            <a:pPr algn="ctr">
              <a:spcAft>
                <a:spcPts val="500"/>
              </a:spcAft>
            </a:pPr>
            <a:r>
              <a:rPr sz="1400" b="1" i="0">
                <a:solidFill>
                  <a:srgbClr val="287971"/>
                </a:solidFill>
                <a:latin typeface="Aptos"/>
              </a:rPr>
              <a:t>Penanda objektif: bentuk, warna, ukuran, tekstur, dan rasa yang dijelaskan sebagai karakteristik objek.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D • JENIS-JENIS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3. Teks deskripsi subjektif</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14</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14</a:t>
            </a:r>
          </a:p>
        </p:txBody>
      </p:sp>
      <p:sp>
        <p:nvSpPr>
          <p:cNvPr id="8" name="TextBox 7"/>
          <p:cNvSpPr txBox="1"/>
          <p:nvPr/>
        </p:nvSpPr>
        <p:spPr>
          <a:xfrm>
            <a:off x="868680" y="1645920"/>
            <a:ext cx="10332720" cy="1051560"/>
          </a:xfrm>
          <a:prstGeom prst="rect">
            <a:avLst/>
          </a:prstGeom>
          <a:noFill/>
        </p:spPr>
        <p:txBody>
          <a:bodyPr wrap="square" lIns="18288" tIns="18288" rIns="18288" bIns="18288" anchor="t">
            <a:spAutoFit/>
          </a:bodyPr>
          <a:lstStyle/>
          <a:p>
            <a:pPr algn="l">
              <a:spcAft>
                <a:spcPts val="500"/>
              </a:spcAft>
            </a:pPr>
            <a:r>
              <a:rPr sz="1800" b="1" i="0">
                <a:solidFill>
                  <a:srgbClr val="152738"/>
                </a:solidFill>
                <a:latin typeface="Aptos"/>
              </a:rPr>
              <a:t>Deskripsi subjektif menggambarkan objek berdasarkan penafsiran, kesan, pandangan, atau perasaan penulis. Karena itu, penggambaran dapat dipengaruhi pengalaman dan pandangan pribadi.</a:t>
            </a:r>
          </a:p>
        </p:txBody>
      </p:sp>
      <p:sp>
        <p:nvSpPr>
          <p:cNvPr id="9" name="Rounded Rectangle 8"/>
          <p:cNvSpPr/>
          <p:nvPr/>
        </p:nvSpPr>
        <p:spPr>
          <a:xfrm>
            <a:off x="960120" y="2971800"/>
            <a:ext cx="1014984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3246120"/>
            <a:ext cx="2743200" cy="274320"/>
          </a:xfrm>
          <a:prstGeom prst="rect">
            <a:avLst/>
          </a:prstGeom>
          <a:noFill/>
        </p:spPr>
        <p:txBody>
          <a:bodyPr wrap="square" lIns="0" tIns="0" rIns="0" bIns="0" anchor="t">
            <a:spAutoFit/>
          </a:bodyPr>
          <a:lstStyle/>
          <a:p>
            <a:pPr algn="l">
              <a:spcAft>
                <a:spcPts val="500"/>
              </a:spcAft>
            </a:pPr>
            <a:r>
              <a:rPr sz="1200" b="1" i="0">
                <a:solidFill>
                  <a:srgbClr val="D76F5B"/>
                </a:solidFill>
                <a:latin typeface="Aptos"/>
              </a:rPr>
              <a:t>CONTOH DALAM MATERI</a:t>
            </a:r>
          </a:p>
        </p:txBody>
      </p:sp>
      <p:sp>
        <p:nvSpPr>
          <p:cNvPr id="11" name="TextBox 10"/>
          <p:cNvSpPr txBox="1"/>
          <p:nvPr/>
        </p:nvSpPr>
        <p:spPr>
          <a:xfrm>
            <a:off x="1280160" y="3657600"/>
            <a:ext cx="9372600" cy="1051560"/>
          </a:xfrm>
          <a:prstGeom prst="rect">
            <a:avLst/>
          </a:prstGeom>
          <a:noFill/>
        </p:spPr>
        <p:txBody>
          <a:bodyPr wrap="square" lIns="18288" tIns="18288" rIns="18288" bIns="18288" anchor="t">
            <a:spAutoFit/>
          </a:bodyPr>
          <a:lstStyle/>
          <a:p>
            <a:pPr algn="l">
              <a:spcAft>
                <a:spcPts val="500"/>
              </a:spcAft>
            </a:pPr>
            <a:r>
              <a:rPr sz="1400" b="0" i="1">
                <a:solidFill>
                  <a:srgbClr val="152738"/>
                </a:solidFill>
                <a:latin typeface="Aptos"/>
              </a:rPr>
              <a:t>“Kuliah di jurusan hukum sering dianggap sulit oleh sebagian orang karena adanya anggapan bahwa mahasiswa hukum harus menghafalkan berbagai undang-undang. Namun, mahasiswa hukum lebih membutuhkan kebiasaan membaca, memahami materi, serta aktif dalam kegiatan pembelajaran dan diskusi.”</a:t>
            </a:r>
          </a:p>
        </p:txBody>
      </p:sp>
      <p:sp>
        <p:nvSpPr>
          <p:cNvPr id="12" name="TextBox 11"/>
          <p:cNvSpPr txBox="1"/>
          <p:nvPr/>
        </p:nvSpPr>
        <p:spPr>
          <a:xfrm>
            <a:off x="914400" y="5440680"/>
            <a:ext cx="10241280" cy="411480"/>
          </a:xfrm>
          <a:prstGeom prst="rect">
            <a:avLst/>
          </a:prstGeom>
          <a:noFill/>
        </p:spPr>
        <p:txBody>
          <a:bodyPr wrap="square" lIns="0" tIns="0" rIns="0" bIns="0" anchor="t">
            <a:spAutoFit/>
          </a:bodyPr>
          <a:lstStyle/>
          <a:p>
            <a:pPr algn="ctr">
              <a:spcAft>
                <a:spcPts val="500"/>
              </a:spcAft>
            </a:pPr>
            <a:r>
              <a:rPr sz="1400" b="1" i="0">
                <a:solidFill>
                  <a:srgbClr val="D76F5B"/>
                </a:solidFill>
                <a:latin typeface="Aptos"/>
              </a:rPr>
              <a:t>Penanda subjektif: sudut pandang atau penilaian yang tampak dalam cara penulis menggambarkan sesuatu.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D • JENIS-JENIS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Bandingkan tiga jenis deskripsi</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15</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15</a:t>
            </a:r>
          </a:p>
        </p:txBody>
      </p:sp>
      <p:sp>
        <p:nvSpPr>
          <p:cNvPr id="8" name="Rounded Rectangle 7"/>
          <p:cNvSpPr/>
          <p:nvPr/>
        </p:nvSpPr>
        <p:spPr>
          <a:xfrm>
            <a:off x="822960" y="1645920"/>
            <a:ext cx="10561320" cy="3611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874519"/>
            <a:ext cx="1828800" cy="256032"/>
          </a:xfrm>
          <a:prstGeom prst="rect">
            <a:avLst/>
          </a:prstGeom>
          <a:noFill/>
        </p:spPr>
        <p:txBody>
          <a:bodyPr wrap="square" lIns="0" tIns="0" rIns="0" bIns="0" anchor="t">
            <a:spAutoFit/>
          </a:bodyPr>
          <a:lstStyle/>
          <a:p>
            <a:pPr algn="l">
              <a:spcAft>
                <a:spcPts val="500"/>
              </a:spcAft>
            </a:pPr>
            <a:r>
              <a:rPr sz="1100" b="1" i="0">
                <a:solidFill>
                  <a:srgbClr val="287971"/>
                </a:solidFill>
                <a:latin typeface="Aptos"/>
              </a:rPr>
              <a:t>JENIS</a:t>
            </a:r>
          </a:p>
        </p:txBody>
      </p:sp>
      <p:sp>
        <p:nvSpPr>
          <p:cNvPr id="10" name="TextBox 9"/>
          <p:cNvSpPr txBox="1"/>
          <p:nvPr/>
        </p:nvSpPr>
        <p:spPr>
          <a:xfrm>
            <a:off x="2880360" y="1874519"/>
            <a:ext cx="3200400" cy="256032"/>
          </a:xfrm>
          <a:prstGeom prst="rect">
            <a:avLst/>
          </a:prstGeom>
          <a:noFill/>
        </p:spPr>
        <p:txBody>
          <a:bodyPr wrap="square" lIns="0" tIns="0" rIns="0" bIns="0" anchor="t">
            <a:spAutoFit/>
          </a:bodyPr>
          <a:lstStyle/>
          <a:p>
            <a:pPr algn="l">
              <a:spcAft>
                <a:spcPts val="500"/>
              </a:spcAft>
            </a:pPr>
            <a:r>
              <a:rPr sz="1100" b="1" i="0">
                <a:solidFill>
                  <a:srgbClr val="287971"/>
                </a:solidFill>
                <a:latin typeface="Aptos"/>
              </a:rPr>
              <a:t>FOKUS</a:t>
            </a:r>
          </a:p>
        </p:txBody>
      </p:sp>
      <p:sp>
        <p:nvSpPr>
          <p:cNvPr id="11" name="TextBox 10"/>
          <p:cNvSpPr txBox="1"/>
          <p:nvPr/>
        </p:nvSpPr>
        <p:spPr>
          <a:xfrm>
            <a:off x="6400800" y="1874519"/>
            <a:ext cx="4480560" cy="256032"/>
          </a:xfrm>
          <a:prstGeom prst="rect">
            <a:avLst/>
          </a:prstGeom>
          <a:noFill/>
        </p:spPr>
        <p:txBody>
          <a:bodyPr wrap="square" lIns="0" tIns="0" rIns="0" bIns="0" anchor="t">
            <a:spAutoFit/>
          </a:bodyPr>
          <a:lstStyle/>
          <a:p>
            <a:pPr algn="l">
              <a:spcAft>
                <a:spcPts val="500"/>
              </a:spcAft>
            </a:pPr>
            <a:r>
              <a:rPr sz="1100" b="1" i="0">
                <a:solidFill>
                  <a:srgbClr val="287971"/>
                </a:solidFill>
                <a:latin typeface="Aptos"/>
              </a:rPr>
              <a:t>PERTANYAAN PEMBANTU</a:t>
            </a:r>
          </a:p>
        </p:txBody>
      </p:sp>
      <p:sp>
        <p:nvSpPr>
          <p:cNvPr id="12" name="Rectangle 11"/>
          <p:cNvSpPr/>
          <p:nvPr/>
        </p:nvSpPr>
        <p:spPr>
          <a:xfrm>
            <a:off x="1005840" y="2258568"/>
            <a:ext cx="10149840" cy="731520"/>
          </a:xfrm>
          <a:prstGeom prst="rect">
            <a:avLst/>
          </a:prstGeom>
          <a:solidFill>
            <a:srgbClr val="EB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2331720"/>
            <a:ext cx="1645920" cy="274320"/>
          </a:xfrm>
          <a:prstGeom prst="rect">
            <a:avLst/>
          </a:prstGeom>
          <a:noFill/>
        </p:spPr>
        <p:txBody>
          <a:bodyPr wrap="square" lIns="0" tIns="0" rIns="0" bIns="0" anchor="t">
            <a:spAutoFit/>
          </a:bodyPr>
          <a:lstStyle/>
          <a:p>
            <a:pPr algn="l">
              <a:spcAft>
                <a:spcPts val="500"/>
              </a:spcAft>
            </a:pPr>
            <a:r>
              <a:rPr sz="1300" b="1" i="0">
                <a:solidFill>
                  <a:srgbClr val="152738"/>
                </a:solidFill>
                <a:latin typeface="Aptos"/>
              </a:rPr>
              <a:t>Spasial</a:t>
            </a:r>
          </a:p>
        </p:txBody>
      </p:sp>
      <p:sp>
        <p:nvSpPr>
          <p:cNvPr id="14" name="TextBox 13"/>
          <p:cNvSpPr txBox="1"/>
          <p:nvPr/>
        </p:nvSpPr>
        <p:spPr>
          <a:xfrm>
            <a:off x="2880360" y="2331720"/>
            <a:ext cx="3246120" cy="502920"/>
          </a:xfrm>
          <a:prstGeom prst="rect">
            <a:avLst/>
          </a:prstGeom>
          <a:noFill/>
        </p:spPr>
        <p:txBody>
          <a:bodyPr wrap="square" lIns="0" tIns="0" rIns="0" bIns="0" anchor="t">
            <a:spAutoFit/>
          </a:bodyPr>
          <a:lstStyle/>
          <a:p>
            <a:pPr algn="l">
              <a:spcAft>
                <a:spcPts val="500"/>
              </a:spcAft>
            </a:pPr>
            <a:r>
              <a:rPr sz="1200" b="0" i="0">
                <a:solidFill>
                  <a:srgbClr val="152738"/>
                </a:solidFill>
                <a:latin typeface="Aptos"/>
              </a:rPr>
              <a:t>Ruang, tempat, arah, posisi, dan kondisi</a:t>
            </a:r>
          </a:p>
        </p:txBody>
      </p:sp>
      <p:sp>
        <p:nvSpPr>
          <p:cNvPr id="15" name="TextBox 14"/>
          <p:cNvSpPr txBox="1"/>
          <p:nvPr/>
        </p:nvSpPr>
        <p:spPr>
          <a:xfrm>
            <a:off x="6400800" y="2331720"/>
            <a:ext cx="4526280" cy="502920"/>
          </a:xfrm>
          <a:prstGeom prst="rect">
            <a:avLst/>
          </a:prstGeom>
          <a:noFill/>
        </p:spPr>
        <p:txBody>
          <a:bodyPr wrap="square" lIns="0" tIns="0" rIns="0" bIns="0" anchor="t">
            <a:spAutoFit/>
          </a:bodyPr>
          <a:lstStyle/>
          <a:p>
            <a:pPr algn="l">
              <a:spcAft>
                <a:spcPts val="500"/>
              </a:spcAft>
            </a:pPr>
            <a:r>
              <a:rPr sz="1200" b="0" i="0">
                <a:solidFill>
                  <a:srgbClr val="152738"/>
                </a:solidFill>
                <a:latin typeface="Aptos"/>
              </a:rPr>
              <a:t>Di mana letaknya? Bagaimana keadaan ruangnya?</a:t>
            </a:r>
          </a:p>
        </p:txBody>
      </p:sp>
      <p:sp>
        <p:nvSpPr>
          <p:cNvPr id="16" name="TextBox 15"/>
          <p:cNvSpPr txBox="1"/>
          <p:nvPr/>
        </p:nvSpPr>
        <p:spPr>
          <a:xfrm>
            <a:off x="1097280" y="3200400"/>
            <a:ext cx="1645920" cy="274320"/>
          </a:xfrm>
          <a:prstGeom prst="rect">
            <a:avLst/>
          </a:prstGeom>
          <a:noFill/>
        </p:spPr>
        <p:txBody>
          <a:bodyPr wrap="square" lIns="0" tIns="0" rIns="0" bIns="0" anchor="t">
            <a:spAutoFit/>
          </a:bodyPr>
          <a:lstStyle/>
          <a:p>
            <a:pPr algn="l">
              <a:spcAft>
                <a:spcPts val="500"/>
              </a:spcAft>
            </a:pPr>
            <a:r>
              <a:rPr sz="1300" b="1" i="0">
                <a:solidFill>
                  <a:srgbClr val="152738"/>
                </a:solidFill>
                <a:latin typeface="Aptos"/>
              </a:rPr>
              <a:t>Objektif</a:t>
            </a:r>
          </a:p>
        </p:txBody>
      </p:sp>
      <p:sp>
        <p:nvSpPr>
          <p:cNvPr id="17" name="TextBox 16"/>
          <p:cNvSpPr txBox="1"/>
          <p:nvPr/>
        </p:nvSpPr>
        <p:spPr>
          <a:xfrm>
            <a:off x="2880360" y="3200400"/>
            <a:ext cx="3246120" cy="502920"/>
          </a:xfrm>
          <a:prstGeom prst="rect">
            <a:avLst/>
          </a:prstGeom>
          <a:noFill/>
        </p:spPr>
        <p:txBody>
          <a:bodyPr wrap="square" lIns="0" tIns="0" rIns="0" bIns="0" anchor="t">
            <a:spAutoFit/>
          </a:bodyPr>
          <a:lstStyle/>
          <a:p>
            <a:pPr algn="l">
              <a:spcAft>
                <a:spcPts val="500"/>
              </a:spcAft>
            </a:pPr>
            <a:r>
              <a:rPr sz="1200" b="0" i="0">
                <a:solidFill>
                  <a:srgbClr val="152738"/>
                </a:solidFill>
                <a:latin typeface="Aptos"/>
              </a:rPr>
              <a:t>Keadaan dan ciri objek yang diamati</a:t>
            </a:r>
          </a:p>
        </p:txBody>
      </p:sp>
      <p:sp>
        <p:nvSpPr>
          <p:cNvPr id="18" name="TextBox 17"/>
          <p:cNvSpPr txBox="1"/>
          <p:nvPr/>
        </p:nvSpPr>
        <p:spPr>
          <a:xfrm>
            <a:off x="6400800" y="3200400"/>
            <a:ext cx="4526280" cy="502920"/>
          </a:xfrm>
          <a:prstGeom prst="rect">
            <a:avLst/>
          </a:prstGeom>
          <a:noFill/>
        </p:spPr>
        <p:txBody>
          <a:bodyPr wrap="square" lIns="0" tIns="0" rIns="0" bIns="0" anchor="t">
            <a:spAutoFit/>
          </a:bodyPr>
          <a:lstStyle/>
          <a:p>
            <a:pPr algn="l">
              <a:spcAft>
                <a:spcPts val="500"/>
              </a:spcAft>
            </a:pPr>
            <a:r>
              <a:rPr sz="1200" b="0" i="0">
                <a:solidFill>
                  <a:srgbClr val="152738"/>
                </a:solidFill>
                <a:latin typeface="Aptos"/>
              </a:rPr>
              <a:t>Apa ciri yang dapat dijelaskan apa adanya?</a:t>
            </a:r>
          </a:p>
        </p:txBody>
      </p:sp>
      <p:sp>
        <p:nvSpPr>
          <p:cNvPr id="19" name="Rectangle 18"/>
          <p:cNvSpPr/>
          <p:nvPr/>
        </p:nvSpPr>
        <p:spPr>
          <a:xfrm>
            <a:off x="1005840" y="3995927"/>
            <a:ext cx="10149840" cy="731520"/>
          </a:xfrm>
          <a:prstGeom prst="rect">
            <a:avLst/>
          </a:prstGeom>
          <a:solidFill>
            <a:srgbClr val="EB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4069079"/>
            <a:ext cx="1645920" cy="274320"/>
          </a:xfrm>
          <a:prstGeom prst="rect">
            <a:avLst/>
          </a:prstGeom>
          <a:noFill/>
        </p:spPr>
        <p:txBody>
          <a:bodyPr wrap="square" lIns="0" tIns="0" rIns="0" bIns="0" anchor="t">
            <a:spAutoFit/>
          </a:bodyPr>
          <a:lstStyle/>
          <a:p>
            <a:pPr algn="l">
              <a:spcAft>
                <a:spcPts val="500"/>
              </a:spcAft>
            </a:pPr>
            <a:r>
              <a:rPr sz="1300" b="1" i="0">
                <a:solidFill>
                  <a:srgbClr val="152738"/>
                </a:solidFill>
                <a:latin typeface="Aptos"/>
              </a:rPr>
              <a:t>Subjektif</a:t>
            </a:r>
          </a:p>
        </p:txBody>
      </p:sp>
      <p:sp>
        <p:nvSpPr>
          <p:cNvPr id="21" name="TextBox 20"/>
          <p:cNvSpPr txBox="1"/>
          <p:nvPr/>
        </p:nvSpPr>
        <p:spPr>
          <a:xfrm>
            <a:off x="2880360" y="4069079"/>
            <a:ext cx="3246120" cy="502920"/>
          </a:xfrm>
          <a:prstGeom prst="rect">
            <a:avLst/>
          </a:prstGeom>
          <a:noFill/>
        </p:spPr>
        <p:txBody>
          <a:bodyPr wrap="square" lIns="0" tIns="0" rIns="0" bIns="0" anchor="t">
            <a:spAutoFit/>
          </a:bodyPr>
          <a:lstStyle/>
          <a:p>
            <a:pPr algn="l">
              <a:spcAft>
                <a:spcPts val="500"/>
              </a:spcAft>
            </a:pPr>
            <a:r>
              <a:rPr sz="1200" b="0" i="0">
                <a:solidFill>
                  <a:srgbClr val="152738"/>
                </a:solidFill>
                <a:latin typeface="Aptos"/>
              </a:rPr>
              <a:t>Kesan, pandangan, atau penafsiran penulis</a:t>
            </a:r>
          </a:p>
        </p:txBody>
      </p:sp>
      <p:sp>
        <p:nvSpPr>
          <p:cNvPr id="22" name="TextBox 21"/>
          <p:cNvSpPr txBox="1"/>
          <p:nvPr/>
        </p:nvSpPr>
        <p:spPr>
          <a:xfrm>
            <a:off x="6400800" y="4069079"/>
            <a:ext cx="4526280" cy="502920"/>
          </a:xfrm>
          <a:prstGeom prst="rect">
            <a:avLst/>
          </a:prstGeom>
          <a:noFill/>
        </p:spPr>
        <p:txBody>
          <a:bodyPr wrap="square" lIns="0" tIns="0" rIns="0" bIns="0" anchor="t">
            <a:spAutoFit/>
          </a:bodyPr>
          <a:lstStyle/>
          <a:p>
            <a:pPr algn="l">
              <a:spcAft>
                <a:spcPts val="500"/>
              </a:spcAft>
            </a:pPr>
            <a:r>
              <a:rPr sz="1200" b="0" i="0">
                <a:solidFill>
                  <a:srgbClr val="152738"/>
                </a:solidFill>
                <a:latin typeface="Aptos"/>
              </a:rPr>
              <a:t>Bagaimana penulis memandang atau merasakan objek?</a:t>
            </a:r>
          </a:p>
        </p:txBody>
      </p:sp>
      <p:sp>
        <p:nvSpPr>
          <p:cNvPr id="23" name="TextBox 22"/>
          <p:cNvSpPr txBox="1"/>
          <p:nvPr/>
        </p:nvSpPr>
        <p:spPr>
          <a:xfrm>
            <a:off x="914400" y="5532120"/>
            <a:ext cx="10241280" cy="320040"/>
          </a:xfrm>
          <a:prstGeom prst="rect">
            <a:avLst/>
          </a:prstGeom>
          <a:noFill/>
        </p:spPr>
        <p:txBody>
          <a:bodyPr wrap="square" lIns="0" tIns="0" rIns="0" bIns="0" anchor="t">
            <a:spAutoFit/>
          </a:bodyPr>
          <a:lstStyle/>
          <a:p>
            <a:pPr algn="ctr">
              <a:spcAft>
                <a:spcPts val="500"/>
              </a:spcAft>
            </a:pPr>
            <a:r>
              <a:rPr sz="1100" b="0" i="1">
                <a:solidFill>
                  <a:srgbClr val="5B6B74"/>
                </a:solidFill>
                <a:latin typeface="Aptos"/>
              </a:rPr>
              <a:t>Catatan: gunakan penjelasan jenis sesuai definisi dan contoh yang disediakan dalam materi.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E • LANGKAH MENULIS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Menulis teks deskripsi: tahap 1–4</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16</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16</a:t>
            </a:r>
          </a:p>
        </p:txBody>
      </p:sp>
      <p:sp>
        <p:nvSpPr>
          <p:cNvPr id="8" name="Rounded Rectangle 7"/>
          <p:cNvSpPr/>
          <p:nvPr/>
        </p:nvSpPr>
        <p:spPr>
          <a:xfrm>
            <a:off x="868680" y="1600200"/>
            <a:ext cx="1046988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78992" y="1783080"/>
            <a:ext cx="438912" cy="438912"/>
          </a:xfrm>
          <a:prstGeom prst="ellips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78992" y="1911095"/>
            <a:ext cx="438912"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01</a:t>
            </a:r>
          </a:p>
        </p:txBody>
      </p:sp>
      <p:sp>
        <p:nvSpPr>
          <p:cNvPr id="11" name="TextBox 10"/>
          <p:cNvSpPr txBox="1"/>
          <p:nvPr/>
        </p:nvSpPr>
        <p:spPr>
          <a:xfrm>
            <a:off x="1783080" y="1897380"/>
            <a:ext cx="2926080" cy="256032"/>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Menentukan</a:t>
            </a:r>
            <a:r>
              <a:rPr sz="1400" b="1" i="0" dirty="0">
                <a:solidFill>
                  <a:srgbClr val="152738"/>
                </a:solidFill>
                <a:latin typeface="Aptos"/>
              </a:rPr>
              <a:t> </a:t>
            </a:r>
            <a:r>
              <a:rPr sz="1400" b="1" i="0" dirty="0" err="1">
                <a:solidFill>
                  <a:srgbClr val="152738"/>
                </a:solidFill>
                <a:latin typeface="Aptos"/>
              </a:rPr>
              <a:t>tema</a:t>
            </a:r>
            <a:r>
              <a:rPr sz="1400" b="1" i="0" dirty="0">
                <a:solidFill>
                  <a:srgbClr val="152738"/>
                </a:solidFill>
                <a:latin typeface="Aptos"/>
              </a:rPr>
              <a:t> </a:t>
            </a:r>
            <a:r>
              <a:rPr sz="1400" b="1" i="0" dirty="0" err="1">
                <a:solidFill>
                  <a:srgbClr val="152738"/>
                </a:solidFill>
                <a:latin typeface="Aptos"/>
              </a:rPr>
              <a:t>atau</a:t>
            </a:r>
            <a:r>
              <a:rPr sz="1400" b="1" i="0" dirty="0">
                <a:solidFill>
                  <a:srgbClr val="152738"/>
                </a:solidFill>
                <a:latin typeface="Aptos"/>
              </a:rPr>
              <a:t> </a:t>
            </a:r>
            <a:r>
              <a:rPr sz="1400" b="1" i="0" dirty="0" err="1">
                <a:solidFill>
                  <a:srgbClr val="152738"/>
                </a:solidFill>
                <a:latin typeface="Aptos"/>
              </a:rPr>
              <a:t>topik</a:t>
            </a:r>
            <a:endParaRPr sz="1400" b="1" i="0" dirty="0">
              <a:solidFill>
                <a:srgbClr val="152738"/>
              </a:solidFill>
              <a:latin typeface="Aptos"/>
            </a:endParaRPr>
          </a:p>
        </p:txBody>
      </p:sp>
      <p:sp>
        <p:nvSpPr>
          <p:cNvPr id="13" name="Rounded Rectangle 12"/>
          <p:cNvSpPr/>
          <p:nvPr/>
        </p:nvSpPr>
        <p:spPr>
          <a:xfrm>
            <a:off x="868680" y="2651760"/>
            <a:ext cx="1046988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78992" y="2807208"/>
            <a:ext cx="438912" cy="438912"/>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78992" y="2935224"/>
            <a:ext cx="438912"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02</a:t>
            </a:r>
          </a:p>
        </p:txBody>
      </p:sp>
      <p:sp>
        <p:nvSpPr>
          <p:cNvPr id="16" name="TextBox 15"/>
          <p:cNvSpPr txBox="1"/>
          <p:nvPr/>
        </p:nvSpPr>
        <p:spPr>
          <a:xfrm>
            <a:off x="1783080" y="2898648"/>
            <a:ext cx="2926080" cy="256032"/>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Mengadakan</a:t>
            </a:r>
            <a:r>
              <a:rPr sz="1400" b="1" i="0" dirty="0">
                <a:solidFill>
                  <a:srgbClr val="152738"/>
                </a:solidFill>
                <a:latin typeface="Aptos"/>
              </a:rPr>
              <a:t> </a:t>
            </a:r>
            <a:r>
              <a:rPr sz="1400" b="1" i="0" dirty="0" err="1">
                <a:solidFill>
                  <a:srgbClr val="152738"/>
                </a:solidFill>
                <a:latin typeface="Aptos"/>
              </a:rPr>
              <a:t>pengamatan</a:t>
            </a:r>
            <a:endParaRPr sz="1400" b="1" i="0" dirty="0">
              <a:solidFill>
                <a:srgbClr val="152738"/>
              </a:solidFill>
              <a:latin typeface="Aptos"/>
            </a:endParaRPr>
          </a:p>
        </p:txBody>
      </p:sp>
      <p:sp>
        <p:nvSpPr>
          <p:cNvPr id="18" name="Rounded Rectangle 17"/>
          <p:cNvSpPr/>
          <p:nvPr/>
        </p:nvSpPr>
        <p:spPr>
          <a:xfrm>
            <a:off x="868680" y="3648456"/>
            <a:ext cx="1046988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78992" y="3831336"/>
            <a:ext cx="438912" cy="438912"/>
          </a:xfrm>
          <a:prstGeom prst="ellipse">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3959352"/>
            <a:ext cx="438912"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03</a:t>
            </a:r>
          </a:p>
        </p:txBody>
      </p:sp>
      <p:sp>
        <p:nvSpPr>
          <p:cNvPr id="21" name="TextBox 20"/>
          <p:cNvSpPr txBox="1"/>
          <p:nvPr/>
        </p:nvSpPr>
        <p:spPr>
          <a:xfrm>
            <a:off x="1783080" y="3936492"/>
            <a:ext cx="2926080" cy="256032"/>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Mengumpulkan</a:t>
            </a:r>
            <a:r>
              <a:rPr sz="1400" b="1" i="0" dirty="0">
                <a:solidFill>
                  <a:srgbClr val="152738"/>
                </a:solidFill>
                <a:latin typeface="Aptos"/>
              </a:rPr>
              <a:t> data</a:t>
            </a:r>
          </a:p>
        </p:txBody>
      </p:sp>
      <p:sp>
        <p:nvSpPr>
          <p:cNvPr id="23" name="Rounded Rectangle 22"/>
          <p:cNvSpPr/>
          <p:nvPr/>
        </p:nvSpPr>
        <p:spPr>
          <a:xfrm>
            <a:off x="868680" y="4672584"/>
            <a:ext cx="1046988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78992" y="4855464"/>
            <a:ext cx="438912" cy="438912"/>
          </a:xfrm>
          <a:prstGeom prst="ellips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78992" y="4983480"/>
            <a:ext cx="438912"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04</a:t>
            </a:r>
          </a:p>
        </p:txBody>
      </p:sp>
      <p:sp>
        <p:nvSpPr>
          <p:cNvPr id="26" name="TextBox 25"/>
          <p:cNvSpPr txBox="1"/>
          <p:nvPr/>
        </p:nvSpPr>
        <p:spPr>
          <a:xfrm>
            <a:off x="1783080" y="4933188"/>
            <a:ext cx="2926080" cy="256032"/>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Menetapkan</a:t>
            </a:r>
            <a:r>
              <a:rPr sz="1400" b="1" i="0" dirty="0">
                <a:solidFill>
                  <a:srgbClr val="152738"/>
                </a:solidFill>
                <a:latin typeface="Aptos"/>
              </a:rPr>
              <a:t> </a:t>
            </a:r>
            <a:r>
              <a:rPr sz="1400" b="1" i="0" dirty="0" err="1">
                <a:solidFill>
                  <a:srgbClr val="152738"/>
                </a:solidFill>
                <a:latin typeface="Aptos"/>
              </a:rPr>
              <a:t>pola</a:t>
            </a:r>
            <a:r>
              <a:rPr sz="1400" b="1" i="0" dirty="0">
                <a:solidFill>
                  <a:srgbClr val="152738"/>
                </a:solidFill>
                <a:latin typeface="Aptos"/>
              </a:rPr>
              <a:t> </a:t>
            </a:r>
            <a:r>
              <a:rPr sz="1400" b="1" i="0" dirty="0" err="1">
                <a:solidFill>
                  <a:srgbClr val="152738"/>
                </a:solidFill>
                <a:latin typeface="Aptos"/>
              </a:rPr>
              <a:t>pengembangan</a:t>
            </a:r>
            <a:endParaRPr sz="1400" b="1" i="0" dirty="0">
              <a:solidFill>
                <a:srgbClr val="152738"/>
              </a:solidFill>
              <a:latin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E • LANGKAH MENULIS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Menulis teks deskripsi: tahap 5–7</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17</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17</a:t>
            </a:r>
          </a:p>
        </p:txBody>
      </p:sp>
      <p:sp>
        <p:nvSpPr>
          <p:cNvPr id="8" name="Rounded Rectangle 7"/>
          <p:cNvSpPr/>
          <p:nvPr/>
        </p:nvSpPr>
        <p:spPr>
          <a:xfrm>
            <a:off x="868680" y="1737360"/>
            <a:ext cx="1046988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78992" y="1984248"/>
            <a:ext cx="457200" cy="457200"/>
          </a:xfrm>
          <a:prstGeom prst="ellips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78992" y="2121408"/>
            <a:ext cx="457200"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05</a:t>
            </a:r>
          </a:p>
        </p:txBody>
      </p:sp>
      <p:sp>
        <p:nvSpPr>
          <p:cNvPr id="11" name="TextBox 10"/>
          <p:cNvSpPr txBox="1"/>
          <p:nvPr/>
        </p:nvSpPr>
        <p:spPr>
          <a:xfrm>
            <a:off x="1746504" y="2094357"/>
            <a:ext cx="2926080" cy="274320"/>
          </a:xfrm>
          <a:prstGeom prst="rect">
            <a:avLst/>
          </a:prstGeom>
          <a:noFill/>
        </p:spPr>
        <p:txBody>
          <a:bodyPr wrap="square" lIns="0" tIns="0" rIns="0" bIns="0" anchor="t">
            <a:spAutoFit/>
          </a:bodyPr>
          <a:lstStyle/>
          <a:p>
            <a:pPr algn="l">
              <a:spcAft>
                <a:spcPts val="500"/>
              </a:spcAft>
            </a:pPr>
            <a:r>
              <a:rPr sz="1400" b="1" i="0" dirty="0">
                <a:solidFill>
                  <a:srgbClr val="152738"/>
                </a:solidFill>
                <a:latin typeface="Aptos"/>
              </a:rPr>
              <a:t>Menyusun </a:t>
            </a:r>
            <a:r>
              <a:rPr sz="1400" b="1" i="0" dirty="0" err="1">
                <a:solidFill>
                  <a:srgbClr val="152738"/>
                </a:solidFill>
                <a:latin typeface="Aptos"/>
              </a:rPr>
              <a:t>kerangka</a:t>
            </a:r>
            <a:r>
              <a:rPr sz="1400" b="1" i="0" dirty="0">
                <a:solidFill>
                  <a:srgbClr val="152738"/>
                </a:solidFill>
                <a:latin typeface="Aptos"/>
              </a:rPr>
              <a:t> </a:t>
            </a:r>
            <a:r>
              <a:rPr sz="1400" b="1" i="0" dirty="0" err="1">
                <a:solidFill>
                  <a:srgbClr val="152738"/>
                </a:solidFill>
                <a:latin typeface="Aptos"/>
              </a:rPr>
              <a:t>paragraf</a:t>
            </a:r>
            <a:endParaRPr sz="1400" b="1" i="0" dirty="0">
              <a:solidFill>
                <a:srgbClr val="152738"/>
              </a:solidFill>
              <a:latin typeface="Aptos"/>
            </a:endParaRPr>
          </a:p>
        </p:txBody>
      </p:sp>
      <p:sp>
        <p:nvSpPr>
          <p:cNvPr id="13" name="Rounded Rectangle 12"/>
          <p:cNvSpPr/>
          <p:nvPr/>
        </p:nvSpPr>
        <p:spPr>
          <a:xfrm>
            <a:off x="868680" y="2926080"/>
            <a:ext cx="1046988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78992" y="3172968"/>
            <a:ext cx="457200" cy="457200"/>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78992" y="3310128"/>
            <a:ext cx="457200"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06</a:t>
            </a:r>
          </a:p>
        </p:txBody>
      </p:sp>
      <p:sp>
        <p:nvSpPr>
          <p:cNvPr id="16" name="TextBox 15"/>
          <p:cNvSpPr txBox="1"/>
          <p:nvPr/>
        </p:nvSpPr>
        <p:spPr>
          <a:xfrm>
            <a:off x="1783080" y="3273171"/>
            <a:ext cx="2926080" cy="274320"/>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Mengembangkan</a:t>
            </a:r>
            <a:r>
              <a:rPr sz="1400" b="1" i="0" dirty="0">
                <a:solidFill>
                  <a:srgbClr val="152738"/>
                </a:solidFill>
                <a:latin typeface="Aptos"/>
              </a:rPr>
              <a:t> </a:t>
            </a:r>
            <a:r>
              <a:rPr sz="1400" b="1" i="0" dirty="0" err="1">
                <a:solidFill>
                  <a:srgbClr val="152738"/>
                </a:solidFill>
                <a:latin typeface="Aptos"/>
              </a:rPr>
              <a:t>kerangka</a:t>
            </a:r>
            <a:endParaRPr sz="1400" b="1" i="0" dirty="0">
              <a:solidFill>
                <a:srgbClr val="152738"/>
              </a:solidFill>
              <a:latin typeface="Aptos"/>
            </a:endParaRPr>
          </a:p>
        </p:txBody>
      </p:sp>
      <p:sp>
        <p:nvSpPr>
          <p:cNvPr id="18" name="Rounded Rectangle 17"/>
          <p:cNvSpPr/>
          <p:nvPr/>
        </p:nvSpPr>
        <p:spPr>
          <a:xfrm>
            <a:off x="868680" y="4114800"/>
            <a:ext cx="1046988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78992" y="4361688"/>
            <a:ext cx="457200" cy="457200"/>
          </a:xfrm>
          <a:prstGeom prst="ellipse">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4498848"/>
            <a:ext cx="457200" cy="137160"/>
          </a:xfrm>
          <a:prstGeom prst="rect">
            <a:avLst/>
          </a:prstGeom>
          <a:noFill/>
        </p:spPr>
        <p:txBody>
          <a:bodyPr wrap="square" lIns="0" tIns="0" rIns="0" bIns="0" anchor="t">
            <a:spAutoFit/>
          </a:bodyPr>
          <a:lstStyle/>
          <a:p>
            <a:pPr algn="ctr">
              <a:spcAft>
                <a:spcPts val="500"/>
              </a:spcAft>
            </a:pPr>
            <a:r>
              <a:rPr sz="900" b="1" i="0">
                <a:solidFill>
                  <a:srgbClr val="FFFFFF"/>
                </a:solidFill>
                <a:latin typeface="Aptos"/>
              </a:rPr>
              <a:t>07</a:t>
            </a:r>
          </a:p>
        </p:txBody>
      </p:sp>
      <p:sp>
        <p:nvSpPr>
          <p:cNvPr id="21" name="TextBox 20"/>
          <p:cNvSpPr txBox="1"/>
          <p:nvPr/>
        </p:nvSpPr>
        <p:spPr>
          <a:xfrm>
            <a:off x="1783080" y="4446651"/>
            <a:ext cx="2926080" cy="274320"/>
          </a:xfrm>
          <a:prstGeom prst="rect">
            <a:avLst/>
          </a:prstGeom>
          <a:noFill/>
        </p:spPr>
        <p:txBody>
          <a:bodyPr wrap="square" lIns="0" tIns="0" rIns="0" bIns="0" anchor="t">
            <a:spAutoFit/>
          </a:bodyPr>
          <a:lstStyle/>
          <a:p>
            <a:pPr algn="l">
              <a:spcAft>
                <a:spcPts val="500"/>
              </a:spcAft>
            </a:pPr>
            <a:r>
              <a:rPr sz="1400" b="1" i="0" dirty="0" err="1">
                <a:solidFill>
                  <a:srgbClr val="152738"/>
                </a:solidFill>
                <a:latin typeface="Aptos"/>
              </a:rPr>
              <a:t>Menyunting</a:t>
            </a:r>
            <a:r>
              <a:rPr sz="1400" b="1" i="0" dirty="0">
                <a:solidFill>
                  <a:srgbClr val="152738"/>
                </a:solidFill>
                <a:latin typeface="Aptos"/>
              </a:rPr>
              <a:t> </a:t>
            </a:r>
            <a:r>
              <a:rPr sz="1400" b="1" i="0" dirty="0" err="1">
                <a:solidFill>
                  <a:srgbClr val="152738"/>
                </a:solidFill>
                <a:latin typeface="Aptos"/>
              </a:rPr>
              <a:t>teks</a:t>
            </a:r>
            <a:endParaRPr sz="1400" b="1" i="0" dirty="0">
              <a:solidFill>
                <a:srgbClr val="152738"/>
              </a:solidFill>
              <a:latin typeface="Aptos"/>
            </a:endParaRPr>
          </a:p>
        </p:txBody>
      </p:sp>
      <p:sp>
        <p:nvSpPr>
          <p:cNvPr id="23" name="Rounded Rectangle 22"/>
          <p:cNvSpPr/>
          <p:nvPr/>
        </p:nvSpPr>
        <p:spPr>
          <a:xfrm>
            <a:off x="1097280" y="5486400"/>
            <a:ext cx="9966960" cy="457200"/>
          </a:xfrm>
          <a:prstGeom prst="roundRect">
            <a:avLst/>
          </a:prstGeom>
          <a:solidFill>
            <a:srgbClr val="C2D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80160" y="5596128"/>
            <a:ext cx="9601200" cy="201168"/>
          </a:xfrm>
          <a:prstGeom prst="rect">
            <a:avLst/>
          </a:prstGeom>
          <a:noFill/>
        </p:spPr>
        <p:txBody>
          <a:bodyPr wrap="square" lIns="0" tIns="0" rIns="0" bIns="0" anchor="t">
            <a:spAutoFit/>
          </a:bodyPr>
          <a:lstStyle/>
          <a:p>
            <a:pPr algn="ctr">
              <a:spcAft>
                <a:spcPts val="500"/>
              </a:spcAft>
            </a:pPr>
            <a:r>
              <a:rPr sz="1300" b="1" i="0">
                <a:solidFill>
                  <a:srgbClr val="152738"/>
                </a:solidFill>
                <a:latin typeface="Aptos"/>
              </a:rPr>
              <a:t>Ingat: teks yang baik menggabungkan pengamatan terperinci dan bahasa yang jelas.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5273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E7B55B"/>
                </a:solidFill>
                <a:latin typeface="Aptos"/>
              </a:rPr>
              <a:t>F • CONTOH TEKS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F9F7F0"/>
                </a:solidFill>
                <a:latin typeface="Aptos"/>
              </a:rPr>
              <a:t>Keindahan Alam Indonesia — deskripsi umum</a:t>
            </a:r>
          </a:p>
        </p:txBody>
      </p:sp>
      <p:sp>
        <p:nvSpPr>
          <p:cNvPr id="4" name="Rectangle 3"/>
          <p:cNvSpPr/>
          <p:nvPr/>
        </p:nvSpPr>
        <p:spPr>
          <a:xfrm>
            <a:off x="658368" y="1261872"/>
            <a:ext cx="713232" cy="50292"/>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E7B55B"/>
                </a:solidFill>
                <a:latin typeface="Aptos"/>
              </a:rPr>
              <a:t>18</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A9BEBC"/>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A9BEBC"/>
                </a:solidFill>
                <a:latin typeface="Aptos"/>
              </a:rPr>
              <a:t>18</a:t>
            </a:r>
          </a:p>
        </p:txBody>
      </p:sp>
      <p:sp>
        <p:nvSpPr>
          <p:cNvPr id="8" name="Rounded Rectangle 7"/>
          <p:cNvSpPr/>
          <p:nvPr/>
        </p:nvSpPr>
        <p:spPr>
          <a:xfrm>
            <a:off x="868680" y="1645920"/>
            <a:ext cx="10424160" cy="4206240"/>
          </a:xfrm>
          <a:prstGeom prst="roundRect">
            <a:avLst/>
          </a:prstGeom>
          <a:solidFill>
            <a:srgbClr val="1F3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1920240"/>
            <a:ext cx="3657600" cy="320040"/>
          </a:xfrm>
          <a:prstGeom prst="rect">
            <a:avLst/>
          </a:prstGeom>
          <a:noFill/>
        </p:spPr>
        <p:txBody>
          <a:bodyPr wrap="square" lIns="0" tIns="0" rIns="0" bIns="0" anchor="t">
            <a:spAutoFit/>
          </a:bodyPr>
          <a:lstStyle/>
          <a:p>
            <a:pPr algn="l">
              <a:spcAft>
                <a:spcPts val="500"/>
              </a:spcAft>
            </a:pPr>
            <a:r>
              <a:rPr sz="1200" b="1" i="0">
                <a:solidFill>
                  <a:srgbClr val="E7B55B"/>
                </a:solidFill>
                <a:latin typeface="Aptos"/>
              </a:rPr>
              <a:t>1. DESKRIPSI UMUM</a:t>
            </a:r>
          </a:p>
        </p:txBody>
      </p:sp>
      <p:sp>
        <p:nvSpPr>
          <p:cNvPr id="10" name="TextBox 9"/>
          <p:cNvSpPr txBox="1"/>
          <p:nvPr/>
        </p:nvSpPr>
        <p:spPr>
          <a:xfrm>
            <a:off x="1188720" y="2423160"/>
            <a:ext cx="9601200" cy="2377440"/>
          </a:xfrm>
          <a:prstGeom prst="rect">
            <a:avLst/>
          </a:prstGeom>
          <a:noFill/>
        </p:spPr>
        <p:txBody>
          <a:bodyPr wrap="square" lIns="18288" tIns="18288" rIns="18288" bIns="18288" anchor="t">
            <a:spAutoFit/>
          </a:bodyPr>
          <a:lstStyle/>
          <a:p>
            <a:pPr algn="l">
              <a:spcAft>
                <a:spcPts val="500"/>
              </a:spcAft>
            </a:pPr>
            <a:r>
              <a:rPr sz="1700" b="0" i="0">
                <a:solidFill>
                  <a:srgbClr val="F9F7F0"/>
                </a:solidFill>
                <a:latin typeface="Aptos"/>
              </a:rPr>
              <a:t>Indonesia merupakan negara yang memiliki kekayaan alam yang sangat beragam. Kekayaan tersebut tersebar dari wilayah Sabang sampai Merauke. Keindahan alam Indonesia menjadi salah satu kekayaan yang memiliki daya tarik besar, baik bagi masyarakat Indonesia maupun wisatawan dari berbagai negara. Keberagaman kondisi geografis Indonesia membuat negara ini mempunyai berbagai jenis keindahan alam. Keindahan tersebut dapat ditemukan di daratan maupun di wilayah perairan.</a:t>
            </a:r>
          </a:p>
        </p:txBody>
      </p:sp>
      <p:sp>
        <p:nvSpPr>
          <p:cNvPr id="11" name="TextBox 10"/>
          <p:cNvSpPr txBox="1"/>
          <p:nvPr/>
        </p:nvSpPr>
        <p:spPr>
          <a:xfrm>
            <a:off x="1188720" y="5166360"/>
            <a:ext cx="9601200" cy="365760"/>
          </a:xfrm>
          <a:prstGeom prst="rect">
            <a:avLst/>
          </a:prstGeom>
          <a:noFill/>
        </p:spPr>
        <p:txBody>
          <a:bodyPr wrap="square" lIns="0" tIns="0" rIns="0" bIns="0" anchor="t">
            <a:spAutoFit/>
          </a:bodyPr>
          <a:lstStyle/>
          <a:p>
            <a:pPr algn="l">
              <a:spcAft>
                <a:spcPts val="500"/>
              </a:spcAft>
            </a:pPr>
            <a:r>
              <a:rPr sz="1300" b="1" i="0">
                <a:solidFill>
                  <a:srgbClr val="C2DACB"/>
                </a:solidFill>
                <a:latin typeface="Aptos"/>
              </a:rPr>
              <a:t>Fokus bagian ini: memperkenalkan objek secara umum, yaitu kekayaan dan keindahan alam Indonesia.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F • CONTOH TEKS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Keindahan Alam Indonesia — deskripsi bagian (1)</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19</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19</a:t>
            </a:r>
          </a:p>
        </p:txBody>
      </p:sp>
      <p:sp>
        <p:nvSpPr>
          <p:cNvPr id="8" name="Rounded Rectangle 7"/>
          <p:cNvSpPr/>
          <p:nvPr/>
        </p:nvSpPr>
        <p:spPr>
          <a:xfrm>
            <a:off x="868680" y="1600200"/>
            <a:ext cx="10424160" cy="4434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1828800"/>
            <a:ext cx="3657600" cy="274320"/>
          </a:xfrm>
          <a:prstGeom prst="rect">
            <a:avLst/>
          </a:prstGeom>
          <a:noFill/>
        </p:spPr>
        <p:txBody>
          <a:bodyPr wrap="square" lIns="0" tIns="0" rIns="0" bIns="0" anchor="t">
            <a:spAutoFit/>
          </a:bodyPr>
          <a:lstStyle/>
          <a:p>
            <a:pPr algn="l">
              <a:spcAft>
                <a:spcPts val="500"/>
              </a:spcAft>
            </a:pPr>
            <a:r>
              <a:rPr sz="1200" b="1" i="0">
                <a:solidFill>
                  <a:srgbClr val="287971"/>
                </a:solidFill>
                <a:latin typeface="Aptos"/>
              </a:rPr>
              <a:t>2. DESKRIPSI BAGIAN</a:t>
            </a:r>
          </a:p>
        </p:txBody>
      </p:sp>
      <p:sp>
        <p:nvSpPr>
          <p:cNvPr id="10" name="TextBox 9"/>
          <p:cNvSpPr txBox="1"/>
          <p:nvPr/>
        </p:nvSpPr>
        <p:spPr>
          <a:xfrm>
            <a:off x="1188720" y="2240280"/>
            <a:ext cx="9601200" cy="1965960"/>
          </a:xfrm>
          <a:prstGeom prst="rect">
            <a:avLst/>
          </a:prstGeom>
          <a:noFill/>
        </p:spPr>
        <p:txBody>
          <a:bodyPr wrap="square" lIns="18288" tIns="18288" rIns="18288" bIns="18288" anchor="t">
            <a:spAutoFit/>
          </a:bodyPr>
          <a:lstStyle/>
          <a:p>
            <a:pPr algn="l">
              <a:spcAft>
                <a:spcPts val="500"/>
              </a:spcAft>
            </a:pPr>
            <a:r>
              <a:rPr sz="1500" b="0" i="0">
                <a:solidFill>
                  <a:srgbClr val="152738"/>
                </a:solidFill>
                <a:latin typeface="Aptos"/>
              </a:rPr>
              <a:t>Hampir setiap wilayah Indonesia memiliki keindahan alam yang berbeda-beda. Ada wilayah yang terkenal dengan pegunungan, hutan, dan perkebunannya, sedangkan wilayah lainnya terkenal karena pantai dan lautnya. Keindahan alam Indonesia menjadi salah satu alasan banyak wisatawan datang berkunjung. Wisatawan dapat menikmati berbagai pemandangan alam sekaligus mengenal keberagaman budaya yang terdapat di berbagai daerah.</a:t>
            </a:r>
          </a:p>
        </p:txBody>
      </p:sp>
      <p:sp>
        <p:nvSpPr>
          <p:cNvPr id="11" name="Rounded Rectangle 10"/>
          <p:cNvSpPr/>
          <p:nvPr/>
        </p:nvSpPr>
        <p:spPr>
          <a:xfrm>
            <a:off x="1143000" y="4526280"/>
            <a:ext cx="9784080" cy="960120"/>
          </a:xfrm>
          <a:prstGeom prst="roundRect">
            <a:avLst/>
          </a:prstGeom>
          <a:solidFill>
            <a:srgbClr val="EBF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71600" y="4773168"/>
            <a:ext cx="9326880" cy="411480"/>
          </a:xfrm>
          <a:prstGeom prst="rect">
            <a:avLst/>
          </a:prstGeom>
          <a:noFill/>
        </p:spPr>
        <p:txBody>
          <a:bodyPr wrap="square" lIns="9144" tIns="9144" rIns="9144" bIns="9144" anchor="t">
            <a:spAutoFit/>
          </a:bodyPr>
          <a:lstStyle/>
          <a:p>
            <a:pPr algn="l">
              <a:spcAft>
                <a:spcPts val="500"/>
              </a:spcAft>
            </a:pPr>
            <a:r>
              <a:rPr sz="1300" b="1" i="0">
                <a:solidFill>
                  <a:srgbClr val="287971"/>
                </a:solidFill>
                <a:latin typeface="Aptos"/>
              </a:rPr>
              <a:t>Detail yang disampaikan: perbedaan bentang alam antarwilayah dan pengalaman yang diperoleh wisatawan.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F • CONTOH TEKS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Keindahan Alam Indonesia — deskripsi bagian (2)</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20</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20</a:t>
            </a:r>
          </a:p>
        </p:txBody>
      </p:sp>
      <p:sp>
        <p:nvSpPr>
          <p:cNvPr id="8" name="Rounded Rectangle 7"/>
          <p:cNvSpPr/>
          <p:nvPr/>
        </p:nvSpPr>
        <p:spPr>
          <a:xfrm>
            <a:off x="868680" y="1600200"/>
            <a:ext cx="10424160"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1874519"/>
            <a:ext cx="9829800" cy="3246120"/>
          </a:xfrm>
          <a:prstGeom prst="rect">
            <a:avLst/>
          </a:prstGeom>
          <a:noFill/>
        </p:spPr>
        <p:txBody>
          <a:bodyPr wrap="square" lIns="18288" tIns="18288" rIns="18288" bIns="18288" anchor="t">
            <a:spAutoFit/>
          </a:bodyPr>
          <a:lstStyle/>
          <a:p>
            <a:pPr algn="l">
              <a:spcAft>
                <a:spcPts val="500"/>
              </a:spcAft>
            </a:pPr>
            <a:r>
              <a:rPr sz="1300" b="0" i="0">
                <a:solidFill>
                  <a:srgbClr val="152738"/>
                </a:solidFill>
                <a:latin typeface="Aptos"/>
              </a:rPr>
              <a:t>Selain keindahan alam yang dapat dilihat secara langsung, Indonesia juga mempunyai kekayaan flora dan fauna yang beragam. Beberapa jenis flora dan fauna bahkan termasuk langka dan memiliki karakteristik yang tidak ditemukan di tempat lain. Salah satu kekayaan alam Indonesia yang terkenal adalah pantainya. Pantai-pantai Indonesia membentang dari wilayah barat sampai wilayah timur. Banyaknya pulau yang dimiliki Indonesia membuat kekayaan laut dan pantainya menjadi semakin beragam. Tidak hanya pantai, kehidupan bawah laut Indonesia juga menjadi daya tarik tersendiri. Keindahan terumbu karang, ikan, serta berbagai jenis kehidupan laut membuat banyak wisatawan tertarik untuk melakukan kegiatan wisata bahari. Beberapa wilayah Indonesia yang terkenal karena keindahan pantainya antara lain Manado, Bali, dan Raja Ampat. Masing-masing wilayah mempunyai karakteristik alam yang berbeda sehingga memberikan pengalaman yang beragam bagi wisatawan.</a:t>
            </a:r>
          </a:p>
        </p:txBody>
      </p:sp>
      <p:sp>
        <p:nvSpPr>
          <p:cNvPr id="10" name="TextBox 9"/>
          <p:cNvSpPr txBox="1"/>
          <p:nvPr/>
        </p:nvSpPr>
        <p:spPr>
          <a:xfrm>
            <a:off x="1143000" y="5394960"/>
            <a:ext cx="9829800" cy="411480"/>
          </a:xfrm>
          <a:prstGeom prst="rect">
            <a:avLst/>
          </a:prstGeom>
          <a:noFill/>
        </p:spPr>
        <p:txBody>
          <a:bodyPr wrap="square" lIns="9144" tIns="9144" rIns="9144" bIns="9144" anchor="t">
            <a:spAutoFit/>
          </a:bodyPr>
          <a:lstStyle/>
          <a:p>
            <a:pPr algn="l">
              <a:spcAft>
                <a:spcPts val="500"/>
              </a:spcAft>
            </a:pPr>
            <a:r>
              <a:rPr sz="1200" b="1" i="0">
                <a:solidFill>
                  <a:srgbClr val="287971"/>
                </a:solidFill>
                <a:latin typeface="Aptos"/>
              </a:rPr>
              <a:t>Detail utama: flora dan fauna • pantai • pulau • terumbu karang • ikan • wisata bahari • Manado, Bali, Raja Ampat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F • CONTOH TEKS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Keindahan Alam Indonesia — hutan dan penutup</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21</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21</a:t>
            </a:r>
          </a:p>
        </p:txBody>
      </p:sp>
      <p:sp>
        <p:nvSpPr>
          <p:cNvPr id="8" name="Rounded Rectangle 7"/>
          <p:cNvSpPr/>
          <p:nvPr/>
        </p:nvSpPr>
        <p:spPr>
          <a:xfrm>
            <a:off x="822960" y="1600200"/>
            <a:ext cx="507492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600200"/>
            <a:ext cx="68580" cy="356616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746504"/>
            <a:ext cx="4709159"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DESKRIPSI BAGIAN: HUTAN</a:t>
            </a:r>
          </a:p>
        </p:txBody>
      </p:sp>
      <p:sp>
        <p:nvSpPr>
          <p:cNvPr id="11" name="TextBox 10"/>
          <p:cNvSpPr txBox="1"/>
          <p:nvPr/>
        </p:nvSpPr>
        <p:spPr>
          <a:xfrm>
            <a:off x="1024128" y="2194560"/>
            <a:ext cx="4690872" cy="2852928"/>
          </a:xfrm>
          <a:prstGeom prst="rect">
            <a:avLst/>
          </a:prstGeom>
          <a:noFill/>
        </p:spPr>
        <p:txBody>
          <a:bodyPr wrap="square" lIns="9144" tIns="9144" rIns="9144" bIns="9144" anchor="t">
            <a:spAutoFit/>
          </a:bodyPr>
          <a:lstStyle/>
          <a:p>
            <a:pPr algn="l">
              <a:spcAft>
                <a:spcPts val="500"/>
              </a:spcAft>
            </a:pPr>
            <a:r>
              <a:rPr sz="1400" b="0" i="0">
                <a:solidFill>
                  <a:srgbClr val="152738"/>
                </a:solidFill>
                <a:latin typeface="Aptos"/>
              </a:rPr>
              <a:t>Selain kekayaan laut, Indonesia juga mempunyai kawasan hutan yang luas. Hutan Indonesia menjadi salah satu bagian penting dari kekayaan alam dunia. Karena luas dan perannya yang besar bagi lingkungan, Indonesia sering dikaitkan dengan sebutan sebagai salah satu paru-paru dunia.</a:t>
            </a:r>
          </a:p>
        </p:txBody>
      </p:sp>
      <p:sp>
        <p:nvSpPr>
          <p:cNvPr id="12" name="Rounded Rectangle 11"/>
          <p:cNvSpPr/>
          <p:nvPr/>
        </p:nvSpPr>
        <p:spPr>
          <a:xfrm>
            <a:off x="6263640" y="1600200"/>
            <a:ext cx="507492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00200"/>
            <a:ext cx="68580" cy="3566160"/>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7" y="1746504"/>
            <a:ext cx="4709159" cy="365760"/>
          </a:xfrm>
          <a:prstGeom prst="rect">
            <a:avLst/>
          </a:prstGeom>
          <a:noFill/>
        </p:spPr>
        <p:txBody>
          <a:bodyPr wrap="square" lIns="0" tIns="0" rIns="0" bIns="0" anchor="t">
            <a:spAutoFit/>
          </a:bodyPr>
          <a:lstStyle/>
          <a:p>
            <a:pPr algn="l">
              <a:spcAft>
                <a:spcPts val="500"/>
              </a:spcAft>
            </a:pPr>
            <a:r>
              <a:rPr sz="1500" b="1" i="0">
                <a:solidFill>
                  <a:srgbClr val="152738"/>
                </a:solidFill>
                <a:latin typeface="Aptos"/>
              </a:rPr>
              <a:t>3. PENUTUP</a:t>
            </a:r>
          </a:p>
        </p:txBody>
      </p:sp>
      <p:sp>
        <p:nvSpPr>
          <p:cNvPr id="15" name="TextBox 14"/>
          <p:cNvSpPr txBox="1"/>
          <p:nvPr/>
        </p:nvSpPr>
        <p:spPr>
          <a:xfrm>
            <a:off x="6464807" y="2194560"/>
            <a:ext cx="4690872" cy="2852928"/>
          </a:xfrm>
          <a:prstGeom prst="rect">
            <a:avLst/>
          </a:prstGeom>
          <a:noFill/>
        </p:spPr>
        <p:txBody>
          <a:bodyPr wrap="square" lIns="9144" tIns="9144" rIns="9144" bIns="9144" anchor="t">
            <a:spAutoFit/>
          </a:bodyPr>
          <a:lstStyle/>
          <a:p>
            <a:pPr algn="l">
              <a:spcAft>
                <a:spcPts val="500"/>
              </a:spcAft>
            </a:pPr>
            <a:r>
              <a:rPr sz="1200" b="0" i="0">
                <a:solidFill>
                  <a:srgbClr val="152738"/>
                </a:solidFill>
                <a:latin typeface="Aptos"/>
              </a:rPr>
              <a:t>Keindahan hutan Indonesia juga menjadi salah satu kekayaan alam yang patut dijaga. Hamparan pepohonan yang hijau dapat memberikan suasana yang sejuk dan menenangkan. Selain itu, keberadaan berbagai jenis tumbuhan dan hewan endemik menambah daya tarik alam Indonesia. Keindahan tersebut tidak hanya dapat dimanfaatkan sebagai objek wisata, tetapi juga harus dilestarikan agar tetap dapat dinikmati oleh generasi berikutnya. Oleh karena itu, masyarakat perlu menjaga lingkungan dan menggunakan kekayaan alam secara bijaksana.</a:t>
            </a:r>
          </a:p>
        </p:txBody>
      </p:sp>
      <p:sp>
        <p:nvSpPr>
          <p:cNvPr id="16" name="TextBox 15"/>
          <p:cNvSpPr txBox="1"/>
          <p:nvPr/>
        </p:nvSpPr>
        <p:spPr>
          <a:xfrm>
            <a:off x="914400" y="5532120"/>
            <a:ext cx="10241280" cy="411480"/>
          </a:xfrm>
          <a:prstGeom prst="rect">
            <a:avLst/>
          </a:prstGeom>
          <a:noFill/>
        </p:spPr>
        <p:txBody>
          <a:bodyPr wrap="square" lIns="0" tIns="0" rIns="0" bIns="0" anchor="t">
            <a:spAutoFit/>
          </a:bodyPr>
          <a:lstStyle/>
          <a:p>
            <a:pPr algn="ctr">
              <a:spcAft>
                <a:spcPts val="500"/>
              </a:spcAft>
            </a:pPr>
            <a:r>
              <a:rPr sz="1300" b="1" i="0">
                <a:solidFill>
                  <a:srgbClr val="287971"/>
                </a:solidFill>
                <a:latin typeface="Aptos"/>
              </a:rPr>
              <a:t>Penegasan akhir pada materi: kekayaan alam Indonesia adalah identitas sekaligus aset yang harus dijaga dan dilestarikan.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BF1EC"/>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F • ANALISIS CONTOH</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Bagaimana struktur teks contoh bekerja?</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22</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22</a:t>
            </a:r>
          </a:p>
        </p:txBody>
      </p:sp>
      <p:sp>
        <p:nvSpPr>
          <p:cNvPr id="8" name="Rounded Rectangle 7"/>
          <p:cNvSpPr/>
          <p:nvPr/>
        </p:nvSpPr>
        <p:spPr>
          <a:xfrm>
            <a:off x="868680" y="1645920"/>
            <a:ext cx="10424160" cy="1078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97280" y="1901952"/>
            <a:ext cx="502920" cy="502920"/>
          </a:xfrm>
          <a:prstGeom prst="ellipse">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057400"/>
            <a:ext cx="502920" cy="164592"/>
          </a:xfrm>
          <a:prstGeom prst="rect">
            <a:avLst/>
          </a:prstGeom>
          <a:noFill/>
        </p:spPr>
        <p:txBody>
          <a:bodyPr wrap="square" lIns="0" tIns="0" rIns="0" bIns="0" anchor="t">
            <a:spAutoFit/>
          </a:bodyPr>
          <a:lstStyle/>
          <a:p>
            <a:pPr algn="ctr">
              <a:spcAft>
                <a:spcPts val="500"/>
              </a:spcAft>
            </a:pPr>
            <a:r>
              <a:rPr sz="1200" b="1" i="0">
                <a:solidFill>
                  <a:srgbClr val="FFFFFF"/>
                </a:solidFill>
                <a:latin typeface="Aptos"/>
              </a:rPr>
              <a:t>1</a:t>
            </a:r>
          </a:p>
        </p:txBody>
      </p:sp>
      <p:sp>
        <p:nvSpPr>
          <p:cNvPr id="11" name="TextBox 10"/>
          <p:cNvSpPr txBox="1"/>
          <p:nvPr/>
        </p:nvSpPr>
        <p:spPr>
          <a:xfrm>
            <a:off x="1828800" y="1773936"/>
            <a:ext cx="2834640" cy="256032"/>
          </a:xfrm>
          <a:prstGeom prst="rect">
            <a:avLst/>
          </a:prstGeom>
          <a:noFill/>
        </p:spPr>
        <p:txBody>
          <a:bodyPr wrap="square" lIns="0" tIns="0" rIns="0" bIns="0" anchor="t">
            <a:spAutoFit/>
          </a:bodyPr>
          <a:lstStyle/>
          <a:p>
            <a:pPr algn="l">
              <a:spcAft>
                <a:spcPts val="500"/>
              </a:spcAft>
            </a:pPr>
            <a:r>
              <a:rPr sz="1300" b="1" i="0">
                <a:solidFill>
                  <a:srgbClr val="152738"/>
                </a:solidFill>
                <a:latin typeface="Aptos"/>
              </a:rPr>
              <a:t>1. DESKRIPSI UMUM</a:t>
            </a:r>
          </a:p>
        </p:txBody>
      </p:sp>
      <p:sp>
        <p:nvSpPr>
          <p:cNvPr id="12" name="TextBox 11"/>
          <p:cNvSpPr txBox="1"/>
          <p:nvPr/>
        </p:nvSpPr>
        <p:spPr>
          <a:xfrm>
            <a:off x="1828800" y="2103120"/>
            <a:ext cx="3840480" cy="411480"/>
          </a:xfrm>
          <a:prstGeom prst="rect">
            <a:avLst/>
          </a:prstGeom>
          <a:noFill/>
        </p:spPr>
        <p:txBody>
          <a:bodyPr wrap="square" lIns="0" tIns="0" rIns="0" bIns="0" anchor="t">
            <a:spAutoFit/>
          </a:bodyPr>
          <a:lstStyle/>
          <a:p>
            <a:pPr algn="l">
              <a:spcAft>
                <a:spcPts val="500"/>
              </a:spcAft>
            </a:pPr>
            <a:r>
              <a:rPr sz="1100" b="0" i="0">
                <a:solidFill>
                  <a:srgbClr val="5B6B74"/>
                </a:solidFill>
                <a:latin typeface="Aptos"/>
              </a:rPr>
              <a:t>Memperkenalkan Indonesia dan keberagaman kekayaan alamnya.</a:t>
            </a:r>
          </a:p>
        </p:txBody>
      </p:sp>
      <p:sp>
        <p:nvSpPr>
          <p:cNvPr id="13" name="TextBox 12"/>
          <p:cNvSpPr txBox="1"/>
          <p:nvPr/>
        </p:nvSpPr>
        <p:spPr>
          <a:xfrm>
            <a:off x="6035040" y="1892808"/>
            <a:ext cx="4800600" cy="502920"/>
          </a:xfrm>
          <a:prstGeom prst="rect">
            <a:avLst/>
          </a:prstGeom>
          <a:noFill/>
        </p:spPr>
        <p:txBody>
          <a:bodyPr wrap="square" lIns="0" tIns="0" rIns="0" bIns="0" anchor="t">
            <a:spAutoFit/>
          </a:bodyPr>
          <a:lstStyle/>
          <a:p>
            <a:pPr algn="l">
              <a:spcAft>
                <a:spcPts val="500"/>
              </a:spcAft>
            </a:pPr>
            <a:r>
              <a:rPr sz="1200" b="1" i="0">
                <a:solidFill>
                  <a:srgbClr val="287971"/>
                </a:solidFill>
                <a:latin typeface="Aptos"/>
              </a:rPr>
              <a:t>Apa objek utama yang akan dibahas?</a:t>
            </a:r>
          </a:p>
        </p:txBody>
      </p:sp>
      <p:sp>
        <p:nvSpPr>
          <p:cNvPr id="14" name="Rounded Rectangle 13"/>
          <p:cNvSpPr/>
          <p:nvPr/>
        </p:nvSpPr>
        <p:spPr>
          <a:xfrm>
            <a:off x="868680" y="2999232"/>
            <a:ext cx="10424160" cy="1078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97280" y="3255264"/>
            <a:ext cx="502920" cy="502920"/>
          </a:xfrm>
          <a:prstGeom prst="ellipse">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410712"/>
            <a:ext cx="502920" cy="164592"/>
          </a:xfrm>
          <a:prstGeom prst="rect">
            <a:avLst/>
          </a:prstGeom>
          <a:noFill/>
        </p:spPr>
        <p:txBody>
          <a:bodyPr wrap="square" lIns="0" tIns="0" rIns="0" bIns="0" anchor="t">
            <a:spAutoFit/>
          </a:bodyPr>
          <a:lstStyle/>
          <a:p>
            <a:pPr algn="ctr">
              <a:spcAft>
                <a:spcPts val="500"/>
              </a:spcAft>
            </a:pPr>
            <a:r>
              <a:rPr sz="1200" b="1" i="0">
                <a:solidFill>
                  <a:srgbClr val="FFFFFF"/>
                </a:solidFill>
                <a:latin typeface="Aptos"/>
              </a:rPr>
              <a:t>2</a:t>
            </a:r>
          </a:p>
        </p:txBody>
      </p:sp>
      <p:sp>
        <p:nvSpPr>
          <p:cNvPr id="17" name="TextBox 16"/>
          <p:cNvSpPr txBox="1"/>
          <p:nvPr/>
        </p:nvSpPr>
        <p:spPr>
          <a:xfrm>
            <a:off x="1828800" y="3127248"/>
            <a:ext cx="2834640" cy="256032"/>
          </a:xfrm>
          <a:prstGeom prst="rect">
            <a:avLst/>
          </a:prstGeom>
          <a:noFill/>
        </p:spPr>
        <p:txBody>
          <a:bodyPr wrap="square" lIns="0" tIns="0" rIns="0" bIns="0" anchor="t">
            <a:spAutoFit/>
          </a:bodyPr>
          <a:lstStyle/>
          <a:p>
            <a:pPr algn="l">
              <a:spcAft>
                <a:spcPts val="500"/>
              </a:spcAft>
            </a:pPr>
            <a:r>
              <a:rPr sz="1300" b="1" i="0">
                <a:solidFill>
                  <a:srgbClr val="152738"/>
                </a:solidFill>
                <a:latin typeface="Aptos"/>
              </a:rPr>
              <a:t>2. DESKRIPSI BAGIAN</a:t>
            </a:r>
          </a:p>
        </p:txBody>
      </p:sp>
      <p:sp>
        <p:nvSpPr>
          <p:cNvPr id="18" name="TextBox 17"/>
          <p:cNvSpPr txBox="1"/>
          <p:nvPr/>
        </p:nvSpPr>
        <p:spPr>
          <a:xfrm>
            <a:off x="1828800" y="3456432"/>
            <a:ext cx="3840480" cy="411480"/>
          </a:xfrm>
          <a:prstGeom prst="rect">
            <a:avLst/>
          </a:prstGeom>
          <a:noFill/>
        </p:spPr>
        <p:txBody>
          <a:bodyPr wrap="square" lIns="0" tIns="0" rIns="0" bIns="0" anchor="t">
            <a:spAutoFit/>
          </a:bodyPr>
          <a:lstStyle/>
          <a:p>
            <a:pPr algn="l">
              <a:spcAft>
                <a:spcPts val="500"/>
              </a:spcAft>
            </a:pPr>
            <a:r>
              <a:rPr sz="1100" b="0" i="0">
                <a:solidFill>
                  <a:srgbClr val="5B6B74"/>
                </a:solidFill>
                <a:latin typeface="Aptos"/>
              </a:rPr>
              <a:t>Menguraikan pegunungan, hutan, pantai, laut, flora, fauna, dan ciri tiap wilayah.</a:t>
            </a:r>
          </a:p>
        </p:txBody>
      </p:sp>
      <p:sp>
        <p:nvSpPr>
          <p:cNvPr id="19" name="TextBox 18"/>
          <p:cNvSpPr txBox="1"/>
          <p:nvPr/>
        </p:nvSpPr>
        <p:spPr>
          <a:xfrm>
            <a:off x="6035040" y="3246120"/>
            <a:ext cx="4800600" cy="502920"/>
          </a:xfrm>
          <a:prstGeom prst="rect">
            <a:avLst/>
          </a:prstGeom>
          <a:noFill/>
        </p:spPr>
        <p:txBody>
          <a:bodyPr wrap="square" lIns="0" tIns="0" rIns="0" bIns="0" anchor="t">
            <a:spAutoFit/>
          </a:bodyPr>
          <a:lstStyle/>
          <a:p>
            <a:pPr algn="l">
              <a:spcAft>
                <a:spcPts val="500"/>
              </a:spcAft>
            </a:pPr>
            <a:r>
              <a:rPr sz="1200" b="1" i="0">
                <a:solidFill>
                  <a:srgbClr val="287971"/>
                </a:solidFill>
                <a:latin typeface="Aptos"/>
              </a:rPr>
              <a:t>Detail apa yang membuat gambaran semakin jelas?</a:t>
            </a:r>
          </a:p>
        </p:txBody>
      </p:sp>
      <p:sp>
        <p:nvSpPr>
          <p:cNvPr id="20" name="Rounded Rectangle 19"/>
          <p:cNvSpPr/>
          <p:nvPr/>
        </p:nvSpPr>
        <p:spPr>
          <a:xfrm>
            <a:off x="868680" y="4352544"/>
            <a:ext cx="10424160" cy="1078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97280" y="4608576"/>
            <a:ext cx="502920" cy="502920"/>
          </a:xfrm>
          <a:prstGeom prst="ellipse">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4764024"/>
            <a:ext cx="502920" cy="164592"/>
          </a:xfrm>
          <a:prstGeom prst="rect">
            <a:avLst/>
          </a:prstGeom>
          <a:noFill/>
        </p:spPr>
        <p:txBody>
          <a:bodyPr wrap="square" lIns="0" tIns="0" rIns="0" bIns="0" anchor="t">
            <a:spAutoFit/>
          </a:bodyPr>
          <a:lstStyle/>
          <a:p>
            <a:pPr algn="ctr">
              <a:spcAft>
                <a:spcPts val="500"/>
              </a:spcAft>
            </a:pPr>
            <a:r>
              <a:rPr sz="1200" b="1" i="0">
                <a:solidFill>
                  <a:srgbClr val="FFFFFF"/>
                </a:solidFill>
                <a:latin typeface="Aptos"/>
              </a:rPr>
              <a:t>3</a:t>
            </a:r>
          </a:p>
        </p:txBody>
      </p:sp>
      <p:sp>
        <p:nvSpPr>
          <p:cNvPr id="23" name="TextBox 22"/>
          <p:cNvSpPr txBox="1"/>
          <p:nvPr/>
        </p:nvSpPr>
        <p:spPr>
          <a:xfrm>
            <a:off x="1828800" y="4480559"/>
            <a:ext cx="2834640" cy="256032"/>
          </a:xfrm>
          <a:prstGeom prst="rect">
            <a:avLst/>
          </a:prstGeom>
          <a:noFill/>
        </p:spPr>
        <p:txBody>
          <a:bodyPr wrap="square" lIns="0" tIns="0" rIns="0" bIns="0" anchor="t">
            <a:spAutoFit/>
          </a:bodyPr>
          <a:lstStyle/>
          <a:p>
            <a:pPr algn="l">
              <a:spcAft>
                <a:spcPts val="500"/>
              </a:spcAft>
            </a:pPr>
            <a:r>
              <a:rPr sz="1300" b="1" i="0">
                <a:solidFill>
                  <a:srgbClr val="152738"/>
                </a:solidFill>
                <a:latin typeface="Aptos"/>
              </a:rPr>
              <a:t>3. PENUTUP</a:t>
            </a:r>
          </a:p>
        </p:txBody>
      </p:sp>
      <p:sp>
        <p:nvSpPr>
          <p:cNvPr id="24" name="TextBox 23"/>
          <p:cNvSpPr txBox="1"/>
          <p:nvPr/>
        </p:nvSpPr>
        <p:spPr>
          <a:xfrm>
            <a:off x="1828800" y="4809744"/>
            <a:ext cx="3840480" cy="411480"/>
          </a:xfrm>
          <a:prstGeom prst="rect">
            <a:avLst/>
          </a:prstGeom>
          <a:noFill/>
        </p:spPr>
        <p:txBody>
          <a:bodyPr wrap="square" lIns="0" tIns="0" rIns="0" bIns="0" anchor="t">
            <a:spAutoFit/>
          </a:bodyPr>
          <a:lstStyle/>
          <a:p>
            <a:pPr algn="l">
              <a:spcAft>
                <a:spcPts val="500"/>
              </a:spcAft>
            </a:pPr>
            <a:r>
              <a:rPr sz="1100" b="0" i="0">
                <a:solidFill>
                  <a:srgbClr val="5B6B74"/>
                </a:solidFill>
                <a:latin typeface="Aptos"/>
              </a:rPr>
              <a:t>Menegaskan pentingnya menjaga dan melestarikan kekayaan alam.</a:t>
            </a:r>
          </a:p>
        </p:txBody>
      </p:sp>
      <p:sp>
        <p:nvSpPr>
          <p:cNvPr id="25" name="TextBox 24"/>
          <p:cNvSpPr txBox="1"/>
          <p:nvPr/>
        </p:nvSpPr>
        <p:spPr>
          <a:xfrm>
            <a:off x="6035040" y="4599431"/>
            <a:ext cx="4800600" cy="502920"/>
          </a:xfrm>
          <a:prstGeom prst="rect">
            <a:avLst/>
          </a:prstGeom>
          <a:noFill/>
        </p:spPr>
        <p:txBody>
          <a:bodyPr wrap="square" lIns="0" tIns="0" rIns="0" bIns="0" anchor="t">
            <a:spAutoFit/>
          </a:bodyPr>
          <a:lstStyle/>
          <a:p>
            <a:pPr algn="l">
              <a:spcAft>
                <a:spcPts val="500"/>
              </a:spcAft>
            </a:pPr>
            <a:r>
              <a:rPr sz="1200" b="1" i="0">
                <a:solidFill>
                  <a:srgbClr val="287971"/>
                </a:solidFill>
                <a:latin typeface="Aptos"/>
              </a:rPr>
              <a:t>Apa pesan atau penegasan akhir penulis?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9F7F0"/>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287971"/>
                </a:solidFill>
                <a:latin typeface="Aptos"/>
              </a:rPr>
              <a:t>AKTIVITAS</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152738"/>
                </a:solidFill>
                <a:latin typeface="Aptos"/>
              </a:rPr>
              <a:t>Latihan: amati, catat, lalu deskripsikan</a:t>
            </a:r>
          </a:p>
        </p:txBody>
      </p:sp>
      <p:sp>
        <p:nvSpPr>
          <p:cNvPr id="4" name="Rectangle 3"/>
          <p:cNvSpPr/>
          <p:nvPr/>
        </p:nvSpPr>
        <p:spPr>
          <a:xfrm>
            <a:off x="658368" y="1261872"/>
            <a:ext cx="713232" cy="5029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287971"/>
                </a:solidFill>
                <a:latin typeface="Aptos"/>
              </a:rPr>
              <a:t>23</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859693"/>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859693"/>
                </a:solidFill>
                <a:latin typeface="Aptos"/>
              </a:rPr>
              <a:t>23</a:t>
            </a:r>
          </a:p>
        </p:txBody>
      </p:sp>
      <p:sp>
        <p:nvSpPr>
          <p:cNvPr id="8" name="Rounded Rectangle 7"/>
          <p:cNvSpPr/>
          <p:nvPr/>
        </p:nvSpPr>
        <p:spPr>
          <a:xfrm>
            <a:off x="822960" y="1645920"/>
            <a:ext cx="3200400" cy="3611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645920"/>
            <a:ext cx="68580" cy="3611880"/>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8" y="1792224"/>
            <a:ext cx="2834640" cy="365760"/>
          </a:xfrm>
          <a:prstGeom prst="rect">
            <a:avLst/>
          </a:prstGeom>
          <a:noFill/>
        </p:spPr>
        <p:txBody>
          <a:bodyPr wrap="square" lIns="0" tIns="0" rIns="0" bIns="0" anchor="t">
            <a:spAutoFit/>
          </a:bodyPr>
          <a:lstStyle/>
          <a:p>
            <a:pPr algn="l">
              <a:spcAft>
                <a:spcPts val="500"/>
              </a:spcAft>
            </a:pPr>
            <a:r>
              <a:rPr sz="1600" b="1" i="0">
                <a:solidFill>
                  <a:srgbClr val="152738"/>
                </a:solidFill>
                <a:latin typeface="Aptos"/>
              </a:rPr>
              <a:t>PILIH OBJEK</a:t>
            </a:r>
          </a:p>
        </p:txBody>
      </p:sp>
      <p:sp>
        <p:nvSpPr>
          <p:cNvPr id="11" name="TextBox 10"/>
          <p:cNvSpPr txBox="1"/>
          <p:nvPr/>
        </p:nvSpPr>
        <p:spPr>
          <a:xfrm>
            <a:off x="1024128" y="2240280"/>
            <a:ext cx="2816352" cy="2898648"/>
          </a:xfrm>
          <a:prstGeom prst="rect">
            <a:avLst/>
          </a:prstGeom>
          <a:noFill/>
        </p:spPr>
        <p:txBody>
          <a:bodyPr wrap="square" lIns="9144" tIns="9144" rIns="9144" bIns="9144" anchor="t">
            <a:spAutoFit/>
          </a:bodyPr>
          <a:lstStyle/>
          <a:p>
            <a:pPr algn="l">
              <a:spcAft>
                <a:spcPts val="500"/>
              </a:spcAft>
            </a:pPr>
            <a:r>
              <a:rPr sz="1500" b="0" i="0">
                <a:solidFill>
                  <a:srgbClr val="152738"/>
                </a:solidFill>
                <a:latin typeface="Aptos"/>
              </a:rPr>
              <a:t>Kelas • tanaman • tas • kantin • halaman sekolah</a:t>
            </a:r>
          </a:p>
          <a:p>
            <a:pPr algn="l">
              <a:spcAft>
                <a:spcPts val="500"/>
              </a:spcAft>
            </a:pPr>
            <a:endParaRPr sz="1500" b="0" i="0">
              <a:solidFill>
                <a:srgbClr val="152738"/>
              </a:solidFill>
              <a:latin typeface="Aptos"/>
            </a:endParaRPr>
          </a:p>
          <a:p>
            <a:pPr algn="l">
              <a:spcAft>
                <a:spcPts val="500"/>
              </a:spcAft>
            </a:pPr>
            <a:r>
              <a:rPr sz="1500" b="0" i="0">
                <a:solidFill>
                  <a:srgbClr val="152738"/>
                </a:solidFill>
                <a:latin typeface="Aptos"/>
              </a:rPr>
              <a:t>Pilih satu objek yang dapat kamu amati.</a:t>
            </a:r>
          </a:p>
        </p:txBody>
      </p:sp>
      <p:sp>
        <p:nvSpPr>
          <p:cNvPr id="12" name="Rounded Rectangle 11"/>
          <p:cNvSpPr/>
          <p:nvPr/>
        </p:nvSpPr>
        <p:spPr>
          <a:xfrm>
            <a:off x="4480560" y="1645920"/>
            <a:ext cx="3200400" cy="3611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0560" y="1645920"/>
            <a:ext cx="68580" cy="3611880"/>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81728" y="1792224"/>
            <a:ext cx="2834640" cy="365760"/>
          </a:xfrm>
          <a:prstGeom prst="rect">
            <a:avLst/>
          </a:prstGeom>
          <a:noFill/>
        </p:spPr>
        <p:txBody>
          <a:bodyPr wrap="square" lIns="0" tIns="0" rIns="0" bIns="0" anchor="t">
            <a:spAutoFit/>
          </a:bodyPr>
          <a:lstStyle/>
          <a:p>
            <a:pPr algn="l">
              <a:spcAft>
                <a:spcPts val="500"/>
              </a:spcAft>
            </a:pPr>
            <a:r>
              <a:rPr sz="1600" b="1" i="0">
                <a:solidFill>
                  <a:srgbClr val="152738"/>
                </a:solidFill>
                <a:latin typeface="Aptos"/>
              </a:rPr>
              <a:t>CATAT DETAIL</a:t>
            </a:r>
          </a:p>
        </p:txBody>
      </p:sp>
      <p:sp>
        <p:nvSpPr>
          <p:cNvPr id="15" name="TextBox 14"/>
          <p:cNvSpPr txBox="1"/>
          <p:nvPr/>
        </p:nvSpPr>
        <p:spPr>
          <a:xfrm>
            <a:off x="4681728" y="2240280"/>
            <a:ext cx="2816352" cy="2898648"/>
          </a:xfrm>
          <a:prstGeom prst="rect">
            <a:avLst/>
          </a:prstGeom>
          <a:noFill/>
        </p:spPr>
        <p:txBody>
          <a:bodyPr wrap="square" lIns="9144" tIns="9144" rIns="9144" bIns="9144" anchor="t">
            <a:spAutoFit/>
          </a:bodyPr>
          <a:lstStyle/>
          <a:p>
            <a:pPr algn="l">
              <a:spcAft>
                <a:spcPts val="500"/>
              </a:spcAft>
            </a:pPr>
            <a:r>
              <a:rPr sz="1500" b="0" i="0">
                <a:solidFill>
                  <a:srgbClr val="152738"/>
                </a:solidFill>
                <a:latin typeface="Aptos"/>
              </a:rPr>
              <a:t>Bentuk dan warna</a:t>
            </a:r>
          </a:p>
          <a:p>
            <a:pPr algn="l">
              <a:spcAft>
                <a:spcPts val="500"/>
              </a:spcAft>
            </a:pPr>
            <a:r>
              <a:rPr sz="1500" b="0" i="0">
                <a:solidFill>
                  <a:srgbClr val="152738"/>
                </a:solidFill>
                <a:latin typeface="Aptos"/>
              </a:rPr>
              <a:t>Ukuran dan bagian</a:t>
            </a:r>
          </a:p>
          <a:p>
            <a:pPr algn="l">
              <a:spcAft>
                <a:spcPts val="500"/>
              </a:spcAft>
            </a:pPr>
            <a:r>
              <a:rPr sz="1500" b="0" i="0">
                <a:solidFill>
                  <a:srgbClr val="152738"/>
                </a:solidFill>
                <a:latin typeface="Aptos"/>
              </a:rPr>
              <a:t>Keadaan atau suasana</a:t>
            </a:r>
          </a:p>
          <a:p>
            <a:pPr algn="l">
              <a:spcAft>
                <a:spcPts val="500"/>
              </a:spcAft>
            </a:pPr>
            <a:r>
              <a:rPr sz="1500" b="0" i="0">
                <a:solidFill>
                  <a:srgbClr val="152738"/>
                </a:solidFill>
                <a:latin typeface="Aptos"/>
              </a:rPr>
              <a:t>Detail yang paling khas</a:t>
            </a:r>
          </a:p>
        </p:txBody>
      </p:sp>
      <p:sp>
        <p:nvSpPr>
          <p:cNvPr id="16" name="Rounded Rectangle 15"/>
          <p:cNvSpPr/>
          <p:nvPr/>
        </p:nvSpPr>
        <p:spPr>
          <a:xfrm>
            <a:off x="8138160" y="1645920"/>
            <a:ext cx="3200400" cy="3611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1645920"/>
            <a:ext cx="68580" cy="3611880"/>
          </a:xfrm>
          <a:prstGeom prst="rect">
            <a:avLst/>
          </a:prstGeom>
          <a:solidFill>
            <a:srgbClr val="D76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9328" y="1792224"/>
            <a:ext cx="2834640" cy="365760"/>
          </a:xfrm>
          <a:prstGeom prst="rect">
            <a:avLst/>
          </a:prstGeom>
          <a:noFill/>
        </p:spPr>
        <p:txBody>
          <a:bodyPr wrap="square" lIns="0" tIns="0" rIns="0" bIns="0" anchor="t">
            <a:spAutoFit/>
          </a:bodyPr>
          <a:lstStyle/>
          <a:p>
            <a:pPr algn="l">
              <a:spcAft>
                <a:spcPts val="500"/>
              </a:spcAft>
            </a:pPr>
            <a:r>
              <a:rPr sz="1600" b="1" i="0">
                <a:solidFill>
                  <a:srgbClr val="152738"/>
                </a:solidFill>
                <a:latin typeface="Aptos"/>
              </a:rPr>
              <a:t>SUSUN PARAGRAF</a:t>
            </a:r>
          </a:p>
        </p:txBody>
      </p:sp>
      <p:sp>
        <p:nvSpPr>
          <p:cNvPr id="19" name="TextBox 18"/>
          <p:cNvSpPr txBox="1"/>
          <p:nvPr/>
        </p:nvSpPr>
        <p:spPr>
          <a:xfrm>
            <a:off x="8339328" y="2240280"/>
            <a:ext cx="2816352" cy="2898648"/>
          </a:xfrm>
          <a:prstGeom prst="rect">
            <a:avLst/>
          </a:prstGeom>
          <a:noFill/>
        </p:spPr>
        <p:txBody>
          <a:bodyPr wrap="square" lIns="9144" tIns="9144" rIns="9144" bIns="9144" anchor="t">
            <a:spAutoFit/>
          </a:bodyPr>
          <a:lstStyle/>
          <a:p>
            <a:pPr algn="l">
              <a:spcAft>
                <a:spcPts val="500"/>
              </a:spcAft>
            </a:pPr>
            <a:r>
              <a:rPr sz="1500" b="0" i="0">
                <a:solidFill>
                  <a:srgbClr val="152738"/>
                </a:solidFill>
                <a:latin typeface="Aptos"/>
              </a:rPr>
              <a:t>Perkenalkan objek.</a:t>
            </a:r>
          </a:p>
          <a:p>
            <a:pPr algn="l">
              <a:spcAft>
                <a:spcPts val="500"/>
              </a:spcAft>
            </a:pPr>
            <a:r>
              <a:rPr sz="1500" b="0" i="0">
                <a:solidFill>
                  <a:srgbClr val="152738"/>
                </a:solidFill>
                <a:latin typeface="Aptos"/>
              </a:rPr>
              <a:t>Uraikan detail penting.</a:t>
            </a:r>
          </a:p>
          <a:p>
            <a:pPr algn="l">
              <a:spcAft>
                <a:spcPts val="500"/>
              </a:spcAft>
            </a:pPr>
            <a:r>
              <a:rPr sz="1500" b="0" i="0">
                <a:solidFill>
                  <a:srgbClr val="152738"/>
                </a:solidFill>
                <a:latin typeface="Aptos"/>
              </a:rPr>
              <a:t>Gunakan kata yang tepat.</a:t>
            </a:r>
          </a:p>
          <a:p>
            <a:pPr algn="l">
              <a:spcAft>
                <a:spcPts val="500"/>
              </a:spcAft>
            </a:pPr>
            <a:r>
              <a:rPr sz="1500" b="0" i="0">
                <a:solidFill>
                  <a:srgbClr val="152738"/>
                </a:solidFill>
                <a:latin typeface="Aptos"/>
              </a:rPr>
              <a:t>Baca ulang dan sunting.</a:t>
            </a:r>
          </a:p>
        </p:txBody>
      </p:sp>
      <p:sp>
        <p:nvSpPr>
          <p:cNvPr id="20" name="TextBox 19"/>
          <p:cNvSpPr txBox="1"/>
          <p:nvPr/>
        </p:nvSpPr>
        <p:spPr>
          <a:xfrm>
            <a:off x="914400" y="5532120"/>
            <a:ext cx="10241280" cy="411480"/>
          </a:xfrm>
          <a:prstGeom prst="rect">
            <a:avLst/>
          </a:prstGeom>
          <a:noFill/>
        </p:spPr>
        <p:txBody>
          <a:bodyPr wrap="square" lIns="0" tIns="0" rIns="0" bIns="0" anchor="t">
            <a:spAutoFit/>
          </a:bodyPr>
          <a:lstStyle/>
          <a:p>
            <a:pPr algn="ctr">
              <a:spcAft>
                <a:spcPts val="500"/>
              </a:spcAft>
            </a:pPr>
            <a:r>
              <a:rPr sz="1400" b="1" i="0">
                <a:solidFill>
                  <a:srgbClr val="152738"/>
                </a:solidFill>
                <a:latin typeface="Aptos"/>
              </a:rPr>
              <a:t>Tantangan: tulis satu paragraf yang membuat pembaca mampu membayangkan objek tanpa melihatnya langsung.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5273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8686800" cy="228600"/>
          </a:xfrm>
          <a:prstGeom prst="rect">
            <a:avLst/>
          </a:prstGeom>
          <a:noFill/>
        </p:spPr>
        <p:txBody>
          <a:bodyPr wrap="square" lIns="0" tIns="0" rIns="0" bIns="0" anchor="t">
            <a:spAutoFit/>
          </a:bodyPr>
          <a:lstStyle/>
          <a:p>
            <a:pPr algn="l">
              <a:spcAft>
                <a:spcPts val="500"/>
              </a:spcAft>
            </a:pPr>
            <a:r>
              <a:rPr sz="1000" b="1" i="0">
                <a:solidFill>
                  <a:srgbClr val="E7B55B"/>
                </a:solidFill>
                <a:latin typeface="Aptos"/>
              </a:rPr>
              <a:t>PENUTUP</a:t>
            </a:r>
          </a:p>
        </p:txBody>
      </p:sp>
      <p:sp>
        <p:nvSpPr>
          <p:cNvPr id="3" name="TextBox 2"/>
          <p:cNvSpPr txBox="1"/>
          <p:nvPr/>
        </p:nvSpPr>
        <p:spPr>
          <a:xfrm>
            <a:off x="658368" y="630936"/>
            <a:ext cx="10698480" cy="566928"/>
          </a:xfrm>
          <a:prstGeom prst="rect">
            <a:avLst/>
          </a:prstGeom>
          <a:noFill/>
        </p:spPr>
        <p:txBody>
          <a:bodyPr wrap="square" lIns="0" tIns="0" rIns="0" bIns="0" anchor="t">
            <a:spAutoFit/>
          </a:bodyPr>
          <a:lstStyle/>
          <a:p>
            <a:pPr algn="l">
              <a:spcAft>
                <a:spcPts val="500"/>
              </a:spcAft>
            </a:pPr>
            <a:r>
              <a:rPr sz="2700" b="1" i="0">
                <a:solidFill>
                  <a:srgbClr val="F9F7F0"/>
                </a:solidFill>
                <a:latin typeface="Aptos"/>
              </a:rPr>
              <a:t>Rangkuman: apa yang perlu diingat?</a:t>
            </a:r>
          </a:p>
        </p:txBody>
      </p:sp>
      <p:sp>
        <p:nvSpPr>
          <p:cNvPr id="4" name="Rectangle 3"/>
          <p:cNvSpPr/>
          <p:nvPr/>
        </p:nvSpPr>
        <p:spPr>
          <a:xfrm>
            <a:off x="658368" y="1261872"/>
            <a:ext cx="713232" cy="50292"/>
          </a:xfrm>
          <a:prstGeom prst="rect">
            <a:avLst/>
          </a:prstGeom>
          <a:solidFill>
            <a:srgbClr val="E7B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0" y="292608"/>
            <a:ext cx="502920" cy="228600"/>
          </a:xfrm>
          <a:prstGeom prst="rect">
            <a:avLst/>
          </a:prstGeom>
          <a:noFill/>
        </p:spPr>
        <p:txBody>
          <a:bodyPr wrap="square" lIns="0" tIns="0" rIns="0" bIns="0" anchor="t">
            <a:spAutoFit/>
          </a:bodyPr>
          <a:lstStyle/>
          <a:p>
            <a:pPr algn="r">
              <a:spcAft>
                <a:spcPts val="500"/>
              </a:spcAft>
            </a:pPr>
            <a:r>
              <a:rPr sz="1000" b="1" i="0">
                <a:solidFill>
                  <a:srgbClr val="E7B55B"/>
                </a:solidFill>
                <a:latin typeface="Aptos"/>
              </a:rPr>
              <a:t>26</a:t>
            </a:r>
          </a:p>
        </p:txBody>
      </p:sp>
      <p:sp>
        <p:nvSpPr>
          <p:cNvPr id="6" name="TextBox 5"/>
          <p:cNvSpPr txBox="1"/>
          <p:nvPr/>
        </p:nvSpPr>
        <p:spPr>
          <a:xfrm>
            <a:off x="658368" y="6510528"/>
            <a:ext cx="5486400" cy="164592"/>
          </a:xfrm>
          <a:prstGeom prst="rect">
            <a:avLst/>
          </a:prstGeom>
          <a:noFill/>
        </p:spPr>
        <p:txBody>
          <a:bodyPr wrap="square" lIns="0" tIns="0" rIns="0" bIns="0" anchor="t">
            <a:spAutoFit/>
          </a:bodyPr>
          <a:lstStyle/>
          <a:p>
            <a:pPr algn="l">
              <a:spcAft>
                <a:spcPts val="500"/>
              </a:spcAft>
            </a:pPr>
            <a:r>
              <a:rPr sz="800" b="1" i="0">
                <a:solidFill>
                  <a:srgbClr val="A9BEBC"/>
                </a:solidFill>
                <a:latin typeface="Aptos"/>
              </a:rPr>
              <a:t>BAHASA INDONESIA  •  MATERI TEKS DESKRIPSI</a:t>
            </a:r>
          </a:p>
        </p:txBody>
      </p:sp>
      <p:sp>
        <p:nvSpPr>
          <p:cNvPr id="7" name="TextBox 6"/>
          <p:cNvSpPr txBox="1"/>
          <p:nvPr/>
        </p:nvSpPr>
        <p:spPr>
          <a:xfrm>
            <a:off x="11109960" y="6492240"/>
            <a:ext cx="320040" cy="164592"/>
          </a:xfrm>
          <a:prstGeom prst="rect">
            <a:avLst/>
          </a:prstGeom>
          <a:noFill/>
        </p:spPr>
        <p:txBody>
          <a:bodyPr wrap="square" lIns="0" tIns="0" rIns="0" bIns="0" anchor="t">
            <a:spAutoFit/>
          </a:bodyPr>
          <a:lstStyle/>
          <a:p>
            <a:pPr algn="r">
              <a:spcAft>
                <a:spcPts val="500"/>
              </a:spcAft>
            </a:pPr>
            <a:r>
              <a:rPr sz="800" b="0" i="0">
                <a:solidFill>
                  <a:srgbClr val="A9BEBC"/>
                </a:solidFill>
                <a:latin typeface="Aptos"/>
              </a:rPr>
              <a:t>26</a:t>
            </a:r>
          </a:p>
        </p:txBody>
      </p:sp>
      <p:sp>
        <p:nvSpPr>
          <p:cNvPr id="8" name="TextBox 7"/>
          <p:cNvSpPr txBox="1"/>
          <p:nvPr/>
        </p:nvSpPr>
        <p:spPr>
          <a:xfrm>
            <a:off x="960120" y="1554480"/>
            <a:ext cx="1965960" cy="256032"/>
          </a:xfrm>
          <a:prstGeom prst="rect">
            <a:avLst/>
          </a:prstGeom>
          <a:noFill/>
        </p:spPr>
        <p:txBody>
          <a:bodyPr wrap="square" lIns="0" tIns="0" rIns="0" bIns="0" anchor="t">
            <a:spAutoFit/>
          </a:bodyPr>
          <a:lstStyle/>
          <a:p>
            <a:pPr algn="l">
              <a:spcAft>
                <a:spcPts val="500"/>
              </a:spcAft>
            </a:pPr>
            <a:r>
              <a:rPr sz="1200" b="1" i="0">
                <a:solidFill>
                  <a:srgbClr val="E7B55B"/>
                </a:solidFill>
                <a:latin typeface="Aptos"/>
              </a:rPr>
              <a:t>PENGERTIAN</a:t>
            </a:r>
          </a:p>
        </p:txBody>
      </p:sp>
      <p:sp>
        <p:nvSpPr>
          <p:cNvPr id="9" name="TextBox 8"/>
          <p:cNvSpPr txBox="1"/>
          <p:nvPr/>
        </p:nvSpPr>
        <p:spPr>
          <a:xfrm>
            <a:off x="2971800" y="1554480"/>
            <a:ext cx="8138160" cy="438912"/>
          </a:xfrm>
          <a:prstGeom prst="rect">
            <a:avLst/>
          </a:prstGeom>
          <a:noFill/>
        </p:spPr>
        <p:txBody>
          <a:bodyPr wrap="square" lIns="0" tIns="0" rIns="0" bIns="0" anchor="t">
            <a:spAutoFit/>
          </a:bodyPr>
          <a:lstStyle/>
          <a:p>
            <a:pPr algn="l">
              <a:spcAft>
                <a:spcPts val="500"/>
              </a:spcAft>
            </a:pPr>
            <a:r>
              <a:rPr sz="1400" b="0" i="0">
                <a:solidFill>
                  <a:srgbClr val="F9F7F0"/>
                </a:solidFill>
                <a:latin typeface="Aptos"/>
              </a:rPr>
              <a:t>Menggambarkan objek dengan jelas dan terperinci.</a:t>
            </a:r>
          </a:p>
        </p:txBody>
      </p:sp>
      <p:sp>
        <p:nvSpPr>
          <p:cNvPr id="10" name="TextBox 9"/>
          <p:cNvSpPr txBox="1"/>
          <p:nvPr/>
        </p:nvSpPr>
        <p:spPr>
          <a:xfrm>
            <a:off x="960120" y="2359152"/>
            <a:ext cx="1965960" cy="256032"/>
          </a:xfrm>
          <a:prstGeom prst="rect">
            <a:avLst/>
          </a:prstGeom>
          <a:noFill/>
        </p:spPr>
        <p:txBody>
          <a:bodyPr wrap="square" lIns="0" tIns="0" rIns="0" bIns="0" anchor="t">
            <a:spAutoFit/>
          </a:bodyPr>
          <a:lstStyle/>
          <a:p>
            <a:pPr algn="l">
              <a:spcAft>
                <a:spcPts val="500"/>
              </a:spcAft>
            </a:pPr>
            <a:r>
              <a:rPr sz="1200" b="1" i="0">
                <a:solidFill>
                  <a:srgbClr val="E7B55B"/>
                </a:solidFill>
                <a:latin typeface="Aptos"/>
              </a:rPr>
              <a:t>TUJUAN</a:t>
            </a:r>
          </a:p>
        </p:txBody>
      </p:sp>
      <p:sp>
        <p:nvSpPr>
          <p:cNvPr id="11" name="TextBox 10"/>
          <p:cNvSpPr txBox="1"/>
          <p:nvPr/>
        </p:nvSpPr>
        <p:spPr>
          <a:xfrm>
            <a:off x="2971800" y="2359152"/>
            <a:ext cx="8138160" cy="438912"/>
          </a:xfrm>
          <a:prstGeom prst="rect">
            <a:avLst/>
          </a:prstGeom>
          <a:noFill/>
        </p:spPr>
        <p:txBody>
          <a:bodyPr wrap="square" lIns="0" tIns="0" rIns="0" bIns="0" anchor="t">
            <a:spAutoFit/>
          </a:bodyPr>
          <a:lstStyle/>
          <a:p>
            <a:pPr algn="l">
              <a:spcAft>
                <a:spcPts val="500"/>
              </a:spcAft>
            </a:pPr>
            <a:r>
              <a:rPr sz="1400" b="0" i="0">
                <a:solidFill>
                  <a:srgbClr val="F9F7F0"/>
                </a:solidFill>
                <a:latin typeface="Aptos"/>
              </a:rPr>
              <a:t>Membantu pembaca membayangkan objek atau keadaan.</a:t>
            </a:r>
          </a:p>
        </p:txBody>
      </p:sp>
      <p:sp>
        <p:nvSpPr>
          <p:cNvPr id="12" name="TextBox 11"/>
          <p:cNvSpPr txBox="1"/>
          <p:nvPr/>
        </p:nvSpPr>
        <p:spPr>
          <a:xfrm>
            <a:off x="960120" y="3163824"/>
            <a:ext cx="1965960" cy="256032"/>
          </a:xfrm>
          <a:prstGeom prst="rect">
            <a:avLst/>
          </a:prstGeom>
          <a:noFill/>
        </p:spPr>
        <p:txBody>
          <a:bodyPr wrap="square" lIns="0" tIns="0" rIns="0" bIns="0" anchor="t">
            <a:spAutoFit/>
          </a:bodyPr>
          <a:lstStyle/>
          <a:p>
            <a:pPr algn="l">
              <a:spcAft>
                <a:spcPts val="500"/>
              </a:spcAft>
            </a:pPr>
            <a:r>
              <a:rPr sz="1200" b="1" i="0">
                <a:solidFill>
                  <a:srgbClr val="E7B55B"/>
                </a:solidFill>
                <a:latin typeface="Aptos"/>
              </a:rPr>
              <a:t>CIRI</a:t>
            </a:r>
          </a:p>
        </p:txBody>
      </p:sp>
      <p:sp>
        <p:nvSpPr>
          <p:cNvPr id="13" name="TextBox 12"/>
          <p:cNvSpPr txBox="1"/>
          <p:nvPr/>
        </p:nvSpPr>
        <p:spPr>
          <a:xfrm>
            <a:off x="2971800" y="3163824"/>
            <a:ext cx="8138160" cy="438912"/>
          </a:xfrm>
          <a:prstGeom prst="rect">
            <a:avLst/>
          </a:prstGeom>
          <a:noFill/>
        </p:spPr>
        <p:txBody>
          <a:bodyPr wrap="square" lIns="0" tIns="0" rIns="0" bIns="0" anchor="t">
            <a:spAutoFit/>
          </a:bodyPr>
          <a:lstStyle/>
          <a:p>
            <a:pPr algn="l">
              <a:spcAft>
                <a:spcPts val="500"/>
              </a:spcAft>
            </a:pPr>
            <a:r>
              <a:rPr sz="1400" b="0" i="0">
                <a:solidFill>
                  <a:srgbClr val="F9F7F0"/>
                </a:solidFill>
                <a:latin typeface="Aptos"/>
              </a:rPr>
              <a:t>Detail objek, karakteristik, dan bahasa yang jelas.</a:t>
            </a:r>
          </a:p>
        </p:txBody>
      </p:sp>
      <p:sp>
        <p:nvSpPr>
          <p:cNvPr id="14" name="TextBox 13"/>
          <p:cNvSpPr txBox="1"/>
          <p:nvPr/>
        </p:nvSpPr>
        <p:spPr>
          <a:xfrm>
            <a:off x="960120" y="3968496"/>
            <a:ext cx="1965960" cy="256032"/>
          </a:xfrm>
          <a:prstGeom prst="rect">
            <a:avLst/>
          </a:prstGeom>
          <a:noFill/>
        </p:spPr>
        <p:txBody>
          <a:bodyPr wrap="square" lIns="0" tIns="0" rIns="0" bIns="0" anchor="t">
            <a:spAutoFit/>
          </a:bodyPr>
          <a:lstStyle/>
          <a:p>
            <a:pPr algn="l">
              <a:spcAft>
                <a:spcPts val="500"/>
              </a:spcAft>
            </a:pPr>
            <a:r>
              <a:rPr sz="1200" b="1" i="0">
                <a:solidFill>
                  <a:srgbClr val="E7B55B"/>
                </a:solidFill>
                <a:latin typeface="Aptos"/>
              </a:rPr>
              <a:t>JENIS</a:t>
            </a:r>
          </a:p>
        </p:txBody>
      </p:sp>
      <p:sp>
        <p:nvSpPr>
          <p:cNvPr id="15" name="TextBox 14"/>
          <p:cNvSpPr txBox="1"/>
          <p:nvPr/>
        </p:nvSpPr>
        <p:spPr>
          <a:xfrm>
            <a:off x="2971800" y="3968496"/>
            <a:ext cx="8138160" cy="438912"/>
          </a:xfrm>
          <a:prstGeom prst="rect">
            <a:avLst/>
          </a:prstGeom>
          <a:noFill/>
        </p:spPr>
        <p:txBody>
          <a:bodyPr wrap="square" lIns="0" tIns="0" rIns="0" bIns="0" anchor="t">
            <a:spAutoFit/>
          </a:bodyPr>
          <a:lstStyle/>
          <a:p>
            <a:pPr algn="l">
              <a:spcAft>
                <a:spcPts val="500"/>
              </a:spcAft>
            </a:pPr>
            <a:r>
              <a:rPr sz="1400" b="0" i="0">
                <a:solidFill>
                  <a:srgbClr val="F9F7F0"/>
                </a:solidFill>
                <a:latin typeface="Aptos"/>
              </a:rPr>
              <a:t>Spasial, objektif, dan subjektif.</a:t>
            </a:r>
          </a:p>
        </p:txBody>
      </p:sp>
      <p:sp>
        <p:nvSpPr>
          <p:cNvPr id="16" name="TextBox 15"/>
          <p:cNvSpPr txBox="1"/>
          <p:nvPr/>
        </p:nvSpPr>
        <p:spPr>
          <a:xfrm>
            <a:off x="960120" y="4773168"/>
            <a:ext cx="1965960" cy="256032"/>
          </a:xfrm>
          <a:prstGeom prst="rect">
            <a:avLst/>
          </a:prstGeom>
          <a:noFill/>
        </p:spPr>
        <p:txBody>
          <a:bodyPr wrap="square" lIns="0" tIns="0" rIns="0" bIns="0" anchor="t">
            <a:spAutoFit/>
          </a:bodyPr>
          <a:lstStyle/>
          <a:p>
            <a:pPr algn="l">
              <a:spcAft>
                <a:spcPts val="500"/>
              </a:spcAft>
            </a:pPr>
            <a:r>
              <a:rPr sz="1200" b="1" i="0">
                <a:solidFill>
                  <a:srgbClr val="E7B55B"/>
                </a:solidFill>
                <a:latin typeface="Aptos"/>
              </a:rPr>
              <a:t>PROSES</a:t>
            </a:r>
          </a:p>
        </p:txBody>
      </p:sp>
      <p:sp>
        <p:nvSpPr>
          <p:cNvPr id="17" name="TextBox 16"/>
          <p:cNvSpPr txBox="1"/>
          <p:nvPr/>
        </p:nvSpPr>
        <p:spPr>
          <a:xfrm>
            <a:off x="2971800" y="4773168"/>
            <a:ext cx="8138160" cy="438912"/>
          </a:xfrm>
          <a:prstGeom prst="rect">
            <a:avLst/>
          </a:prstGeom>
          <a:noFill/>
        </p:spPr>
        <p:txBody>
          <a:bodyPr wrap="square" lIns="0" tIns="0" rIns="0" bIns="0" anchor="t">
            <a:spAutoFit/>
          </a:bodyPr>
          <a:lstStyle/>
          <a:p>
            <a:pPr algn="l">
              <a:spcAft>
                <a:spcPts val="500"/>
              </a:spcAft>
            </a:pPr>
            <a:r>
              <a:rPr sz="1400" b="0" i="0">
                <a:solidFill>
                  <a:srgbClr val="F9F7F0"/>
                </a:solidFill>
                <a:latin typeface="Aptos"/>
              </a:rPr>
              <a:t>Tentukan topik → amati → kumpulkan data → pilih pola → buat kerangka → kembangkan → sunting.</a:t>
            </a:r>
          </a:p>
        </p:txBody>
      </p:sp>
      <p:sp>
        <p:nvSpPr>
          <p:cNvPr id="18" name="Rectangle 17"/>
          <p:cNvSpPr/>
          <p:nvPr/>
        </p:nvSpPr>
        <p:spPr>
          <a:xfrm>
            <a:off x="960120" y="5715000"/>
            <a:ext cx="10149840" cy="27432"/>
          </a:xfrm>
          <a:prstGeom prst="rect">
            <a:avLst/>
          </a:prstGeom>
          <a:solidFill>
            <a:srgbClr val="2879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5897880"/>
            <a:ext cx="10149840" cy="320040"/>
          </a:xfrm>
          <a:prstGeom prst="rect">
            <a:avLst/>
          </a:prstGeom>
          <a:noFill/>
        </p:spPr>
        <p:txBody>
          <a:bodyPr wrap="square" lIns="0" tIns="0" rIns="0" bIns="0" anchor="t">
            <a:spAutoFit/>
          </a:bodyPr>
          <a:lstStyle/>
          <a:p>
            <a:pPr algn="ctr">
              <a:spcAft>
                <a:spcPts val="500"/>
              </a:spcAft>
            </a:pPr>
            <a:r>
              <a:rPr sz="1500" b="1" i="0">
                <a:solidFill>
                  <a:srgbClr val="C2DACB"/>
                </a:solidFill>
                <a:latin typeface="Aptos"/>
              </a:rPr>
              <a:t>Amati dengan cermat. Pilih detail yang bermakna. Susun dengan bahasa yang jelas.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2054</Words>
  <Application>Microsoft Office PowerPoint</Application>
  <PresentationFormat>Widescreen</PresentationFormat>
  <Paragraphs>309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 Lengkap Teks Deskripsi - Bahasa Indonesia Kelas IX</dc:title>
  <dc:subject>Materi lengkap berdasarkan file MATERI TEKS DESKRIPSI 2.txt</dc:subject>
  <dc:creator>OpenAI</dc:creator>
  <cp:keywords>teks deskripsi, kelas IX, Bahasa Indonesia, pengertian, tujuan, ciri, jenis, langkah, contoh</cp:keywords>
  <dc:description>generated using python-pptx</dc:description>
  <cp:lastModifiedBy>Lala Lili</cp:lastModifiedBy>
  <cp:revision>2</cp:revision>
  <dcterms:created xsi:type="dcterms:W3CDTF">2013-01-27T09:14:16Z</dcterms:created>
  <dcterms:modified xsi:type="dcterms:W3CDTF">2026-10-09T08:19:57Z</dcterms:modified>
  <cp:category/>
</cp:coreProperties>
</file>